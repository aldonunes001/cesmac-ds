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3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98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Tempo de projeto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6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DAE-6145-9071-EF1DE8187BD5}"/>
              </c:ext>
            </c:extLst>
          </c:dPt>
          <c:dPt>
            <c:idx val="1"/>
            <c:bubble3D val="0"/>
            <c:spPr>
              <a:solidFill>
                <a:srgbClr val="CBDC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AE-6145-9071-EF1DE8187BD5}"/>
              </c:ext>
            </c:extLst>
          </c:dPt>
          <c:cat>
            <c:strRef>
              <c:f>Sheet1!$A$2:$A$3</c:f>
              <c:strCache>
                <c:ptCount val="2"/>
                <c:pt idx="0">
                  <c:v>Coleta, entendimento e preparação</c:v>
                </c:pt>
                <c:pt idx="1">
                  <c:v>Demais etapas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DAE-6145-9071-EF1DE8187B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Sensibilidade (acerto nos “sim”)</c:v>
                </c:pt>
              </c:strCache>
            </c:strRef>
          </c:tx>
          <c:spPr>
            <a:solidFill>
              <a:srgbClr val="E8940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B72"/>
                    </a:solidFill>
                    <a:latin typeface="Calibri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Custo 1 : 1</c:v>
                </c:pt>
                <c:pt idx="1">
                  <c:v>Custo 9 : 1</c:v>
                </c:pt>
                <c:pt idx="2">
                  <c:v>Custo 4 : 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97</c:v>
                </c:pt>
                <c:pt idx="2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3B-0141-A45E-0AA15BE37D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Acurácia global</c:v>
                </c:pt>
              </c:strCache>
            </c:strRef>
          </c:tx>
          <c:spPr>
            <a:solidFill>
              <a:srgbClr val="0E65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B72"/>
                    </a:solidFill>
                    <a:latin typeface="Calibri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Custo 1 : 1</c:v>
                </c:pt>
                <c:pt idx="1">
                  <c:v>Custo 9 : 1</c:v>
                </c:pt>
                <c:pt idx="2">
                  <c:v>Custo 4 : 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</c:v>
                </c:pt>
                <c:pt idx="1">
                  <c:v>49</c:v>
                </c:pt>
                <c:pt idx="2">
                  <c:v>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3B-0141-A45E-0AA15BE37D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A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B6B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Modelo (custo 4 : 1)</c:v>
                </c:pt>
              </c:strCache>
            </c:strRef>
          </c:tx>
          <c:spPr>
            <a:ln w="31750" cap="flat">
              <a:solidFill>
                <a:srgbClr val="0E657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38</c:v>
                </c:pt>
                <c:pt idx="2">
                  <c:v>55</c:v>
                </c:pt>
                <c:pt idx="3">
                  <c:v>66</c:v>
                </c:pt>
                <c:pt idx="4">
                  <c:v>74</c:v>
                </c:pt>
                <c:pt idx="5">
                  <c:v>81</c:v>
                </c:pt>
                <c:pt idx="6">
                  <c:v>86</c:v>
                </c:pt>
                <c:pt idx="7">
                  <c:v>91</c:v>
                </c:pt>
                <c:pt idx="8">
                  <c:v>95</c:v>
                </c:pt>
                <c:pt idx="9">
                  <c:v>98</c:v>
                </c:pt>
                <c:pt idx="10">
                  <c:v>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326-8441-A6D4-2CD86964A8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Linha de base (chute)</c:v>
                </c:pt>
              </c:strCache>
            </c:strRef>
          </c:tx>
          <c:spPr>
            <a:ln w="31750" cap="flat">
              <a:solidFill>
                <a:srgbClr val="B9C4C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326-8441-A6D4-2CD86964A8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B72"/>
                    </a:solidFill>
                    <a:latin typeface="Arial"/>
                  </a:defRPr>
                </a:pPr>
                <a:r>
                  <a:rPr lang="en-US" sz="1050" b="0" i="0" u="none" strike="noStrike">
                    <a:solidFill>
                      <a:srgbClr val="5B6B72"/>
                    </a:solidFill>
                    <a:latin typeface="Arial"/>
                  </a:rPr>
                  <a:t>falso alarme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C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B72"/>
                    </a:solidFill>
                    <a:latin typeface="Arial"/>
                  </a:defRPr>
                </a:pPr>
                <a:r>
                  <a:rPr lang="en-US" sz="1050" b="0" i="0" u="none" strike="noStrike">
                    <a:solidFill>
                      <a:srgbClr val="5B6B72"/>
                    </a:solidFill>
                    <a:latin typeface="Arial"/>
                  </a:rPr>
                  <a:t>acerto nos “sim”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B6B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864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 min). Relembre que o Encontro 2 terminou com a coleta de dados. Hoje fechamos o restante do ciclo metodológico antes das aulas técnicas: entendimento, preparação, modelagem, avaliação, implantação e feedback — e, ao final, o CRISP-DM. Mensagem-chave: ao terminar esta aula, cada técnica que virá depois (Pandas, estatística, visualização, ML) terá um lugar claro no mapa.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min. Retome rapidamente o Encontro 2 pedindo exemplos da própria turma: qual era o problema? qual abordagem? quais dados? Depois lance a pergunta em destaque: 'agora que os dados chegaram, o que fazemos com eles?' — deixe 2 ou 3 alunos responderem antes de avançar. Anuncie a sequência do dia (as seis etapas restantes).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completo: as quatro primeiras etapas foram o Encontro 2; as seis restantes são o assunto de hoje. Destaque a natureza iterativa — este é um dos conceitos que mais aparecem nos exemplos de hoje (vamos ver dois casos de 'voltar atrás' no estudo de caso da IBM).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 para as partes de entendimento. Apresente a pergunta da etapa e explique: 'ter dados' e 'entender dados' são coisas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cada ferramenta com exemplos rápidos no quadro. Pergunta para a turma: 'se duas variáveis têm correlação altíssima, por que manter as duas pode atrapalhar?' Mensagem central do slide: coletar dados não significa ainda compreender 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Slide-âncora sobre qualidade. Pergunte: 'o que fazer quando encontramos o 999?' — recodificar como ausente, investigar a origem, ou descartar a coluna se estiver comprometida demais. Conecte com o curso: univariadas e histogramas são justamente o que revela esse tipo de armadilha (999 salta aos olhos num histograma).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como narrativa: a definição parecia pronta, os dados mostraram que não era. Este é o primeiro exemplo concreto de iteração (entendimento → coleta). Haverá outro na preparação (revisão de literatura → coleta) e outro na modelagem (modelagem → preparação).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Espelho educacional do caso da ICC: a definição do alvo é uma decisão, não um dado. Sugestão de dinâmica rápida: peça que a turma vote se trancamento deveria contar como evasão — e use o desacordo para mostrar que a definição precisa ser explícita e documentada.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 — a parte mais longa da aula, de propósito: é também a etapa mais longa de um projeto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número 70–90% costuma surpreender — deixe-o trabalhar por você. Pergunta para a turma: 'por que será que a parte menos glamourosa é a mais demorada?' Adiante que as próximas aulas práticas (Pandas) viverão exatamente dentro desta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Frise que engenharia de variáveis exige conhecimento do domínio — quem entende de evasão sabe quais sinais procurar. Boa pergunta: 'que outra variável vocês criariam a partir do log de acessos ao AVA?'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do caso: (1) definir ICC com precisão exigiu códigos de diagnóstico e orientação clínica; (2) distinguir admissão-índice de readmissão exigiu janela de 30 dias; (3) agregação transformou transações em uma linha por paciente — formato exigido pela árvore de decisão; (4) a revisão de literatura sobre comorbidades reabriu a coleta (segunda iteração!); (5) alvo = readmissão em 30 dias (sim/não). Depois conecte: presenças, notas e acessos dos nossos alunos pedem exatamente a mesma agregação.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que os alunos mais confundem na prática. Exercício-relâmpago: 'quero comparar turnos manhã/noite — qual granularidade?' (por matrícula ou por disciplina, não por aluno). Reforce: agregação (slide anterior) é justamente o movimento de descer nessa escada.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Espelhe explicitamente com o caso clínico: transações → linha do paciente :: registros acadêmicos → linha do aluno. Se houver tempo, pergunte quais dessas variáveis a instituição já teria hoje e quais exigiriam novos registros.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Avise desde já: hoje é visão de processo — algoritmos em detalhe ficam para as aulas de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aprofundar algoritmos. O essencial: (1) treino/teste e por quê; (2) modelo se escolhe pela pergunta, não pela moda; (3) refinar é constante. O sucesso da modelagem depende do que veio antes — entendimento do problema, abordagem certa, dados bem preparados.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História em três atos: primeiro modelo 'bonito por fora' (85% de acurácia, mas cego para o que importa); segundo modelo exagerado (9:1); terceiro equilibrado (4:1). Prepare o terreno para dois slides adiante: acurácia global sozinha engana — a pergunta é sempre 'acerta no quê?'.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Traduza tipo I/tipo II sem formalismo: alarme falso vs. silêncio falso. Discussão boa: 'no nosso caso de evasão, qual erro é mais grave?' — não há resposta única; depende do custo da intervenção e da capacidade de atendimento.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respiro — deixe a frase agir. É o antídoto contra a ansiedade de 'quando vamos treinar redes neurais?': primeiro o mapa, depois as ferramentas.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Duas camadas: avaliação técnica (o modelo funciona?) e avaliação do problema (a solução serve?).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claro o timing: avaliar não é o que se faz depois de pronto — é o que se faz para deixar pronto. A segunda fase (significância) pode ser tratada de leve; será revisitada na aula de estatística.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Ensine a ler o gráfico devagar: eixo x = falso alarme, eixo y = acerto nos casos de interesse. A diagonal é o chute. Não é preciso formalizar AUC hoje — basta a intuição de 'separação da diagonal'. A régua de decisão usada no caso foi o custo relativo de má-classificação.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organiza a discussão que o caso da IBM já plantou. A régua técnica é necessária, nunca suficiente. Gancho direto para o exemplo educacional a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exemplos ecoam o caso da IBM (o modelo 1:1 tinha 85% de acurácia e enxergava menos da metade das readmissões). Se quiser aprofundar: pergunte que métricas olhariam no lugar da acurácia (acerto por classe, antecedência do alerta).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 para as duas etapas finais do ciclo. O divisor destaca Implantação; o feedback fecha o loop no slide seguinte.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Implantação pode começar pequena: grupo restrito ou ambiente de teste, para ganhar confiança antes de escalar. Traduza para a evasão: quem precisaria ver o risco? coordenação? tutoria? em qual tela, com qual frequência?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Repare no detalhe ético (sem dividir pacientes em grupo de controle) — bom gancho para discutir ética em projetos educacionais também. E note a iteração final: os dados farmacêuticos descartados na coleta voltam à mesa depois do primeiro ano. O ciclo de verdade nunca 'acaba'.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min, de leve. A cadeia problema → evidência → conclusão → ação é o esqueleto de qualquer comunicação de resultados. Se sobrar 1 minuto: peça a um aluno para 'contar' o caso da IBM em 30 segundos usando essa cadeia.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'plot twist': revelar que a aula inteira já era CRISP-DM disfarçado. O ciclo continua até que interessados e equipe concordem que a análise responde ao problema de negócio. Iteração vale aqui também: depois de qualquer fase pode ser preciso voltar.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tabela para consolidar: os alunos devem sair sabendo transitar entre os dois vocabulários — provas, artigos e vagas de emprego usam ambos. Repare que 4 etapas da IBM desaguam em apenas 2 fases do CRISP-DM.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atividade transforma a aula em prática imediata. Se o tempo apertar, vire tarefa: cada grupo traz o quadro preenchido no próximo encontro. Dica de condução: circule pelos grupos provocando com as perguntas de avaliação ('qual erro é mais grave: reprovar quem passaria ou ignorar quem vai reprovar?').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(2 min). Retome a frase que encerrou o Encontro 2 — agora a cadeia de decisões está completa, do problema ao feedback. Recolha (ou encomende) a atividade e anuncie o próximo encontro.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1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0"/>
            <a:ext cx="3383280" cy="3383280"/>
          </a:xfrm>
          <a:prstGeom prst="ellipse">
            <a:avLst/>
          </a:prstGeom>
          <a:solidFill>
            <a:srgbClr val="10262E"/>
          </a:solidFill>
          <a:ln w="19050">
            <a:solidFill>
              <a:srgbClr val="2A4854"/>
            </a:solidFill>
            <a:prstDash val="dash"/>
          </a:ln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8846820" y="1394460"/>
            <a:ext cx="868680" cy="868680"/>
          </a:xfrm>
          <a:prstGeom prst="ellipse">
            <a:avLst/>
          </a:prstGeom>
          <a:solidFill>
            <a:srgbClr val="1A3641"/>
          </a:solidFill>
          <a:ln w="15875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4" name="Image 0" descr="/private/tmp/claude-501/-Users-aldonunes-Cesmac-1-Ciencia-de-Dados-aulas-002/de4d4c8d-184c-48ab-b42d-2bb8962e5f24/scratchpad/icons/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364" y="1629004"/>
            <a:ext cx="399593" cy="39959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11823" y="2240280"/>
            <a:ext cx="868680" cy="868680"/>
          </a:xfrm>
          <a:prstGeom prst="ellipse">
            <a:avLst/>
          </a:prstGeom>
          <a:solidFill>
            <a:srgbClr val="1A3641"/>
          </a:solidFill>
          <a:ln w="15875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6" name="Image 1" descr="/private/tmp/claude-501/-Users-aldonunes-Cesmac-1-Ciencia-de-Dados-aulas-002/de4d4c8d-184c-48ab-b42d-2bb8962e5f24/scratchpad/icons/fil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6367" y="2474824"/>
            <a:ext cx="399593" cy="39959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311823" y="3931920"/>
            <a:ext cx="868680" cy="868680"/>
          </a:xfrm>
          <a:prstGeom prst="ellipse">
            <a:avLst/>
          </a:prstGeom>
          <a:solidFill>
            <a:srgbClr val="1A3641"/>
          </a:solidFill>
          <a:ln w="15875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8" name="Image 2" descr="/private/tmp/claude-501/-Users-aldonunes-Cesmac-1-Ciencia-de-Dados-aulas-002/de4d4c8d-184c-48ab-b42d-2bb8962e5f24/scratchpad/icons/cpu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6367" y="4166464"/>
            <a:ext cx="399593" cy="399593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846820" y="4777740"/>
            <a:ext cx="868680" cy="868680"/>
          </a:xfrm>
          <a:prstGeom prst="ellipse">
            <a:avLst/>
          </a:prstGeom>
          <a:solidFill>
            <a:srgbClr val="1A3641"/>
          </a:solidFill>
          <a:ln w="15875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0" name="Image 3" descr="/private/tmp/claude-501/-Users-aldonunes-Cesmac-1-Ciencia-de-Dados-aulas-002/de4d4c8d-184c-48ab-b42d-2bb8962e5f24/scratchpad/icons/targ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1364" y="5012284"/>
            <a:ext cx="399593" cy="399593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381817" y="3931920"/>
            <a:ext cx="868680" cy="868680"/>
          </a:xfrm>
          <a:prstGeom prst="ellipse">
            <a:avLst/>
          </a:prstGeom>
          <a:solidFill>
            <a:srgbClr val="1A3641"/>
          </a:solidFill>
          <a:ln w="15875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2" name="Image 4" descr="/private/tmp/claude-501/-Users-aldonunes-Cesmac-1-Ciencia-de-Dados-aulas-002/de4d4c8d-184c-48ab-b42d-2bb8962e5f24/scratchpad/icons/sen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360" y="4166464"/>
            <a:ext cx="399593" cy="399593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7381817" y="2240280"/>
            <a:ext cx="868680" cy="868680"/>
          </a:xfrm>
          <a:prstGeom prst="ellipse">
            <a:avLst/>
          </a:prstGeom>
          <a:solidFill>
            <a:srgbClr val="E8940A"/>
          </a:solidFill>
          <a:ln w="15875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4" name="Image 5" descr="/private/tmp/claude-501/-Users-aldonunes-Cesmac-1-Ciencia-de-Dados-aulas-002/de4d4c8d-184c-48ab-b42d-2bb8962e5f24/scratchpad/icons/refres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360" y="2474824"/>
            <a:ext cx="399593" cy="39959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366760" y="30175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FAA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8FAA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completo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640080" y="1417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1300" dirty="0"/>
          </a:p>
        </p:txBody>
      </p:sp>
      <p:sp>
        <p:nvSpPr>
          <p:cNvPr id="17" name="Text 9"/>
          <p:cNvSpPr/>
          <p:nvPr/>
        </p:nvSpPr>
        <p:spPr>
          <a:xfrm>
            <a:off x="603504" y="182880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Entendimento dos Dados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Avaliação do Modelo</a:t>
            </a:r>
            <a:endParaRPr lang="en-US" sz="4000" dirty="0"/>
          </a:p>
        </p:txBody>
      </p:sp>
      <p:sp>
        <p:nvSpPr>
          <p:cNvPr id="18" name="Text 10"/>
          <p:cNvSpPr/>
          <p:nvPr/>
        </p:nvSpPr>
        <p:spPr>
          <a:xfrm>
            <a:off x="640080" y="37947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Fechando o ciclo metodológico: entendimento, preparação,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9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modelagem, avaliação, implantação e feedback.</a:t>
            </a:r>
            <a:endParaRPr lang="en-US" sz="1500" dirty="0"/>
          </a:p>
        </p:txBody>
      </p:sp>
      <p:sp>
        <p:nvSpPr>
          <p:cNvPr id="19" name="Shape 11"/>
          <p:cNvSpPr/>
          <p:nvPr/>
        </p:nvSpPr>
        <p:spPr>
          <a:xfrm>
            <a:off x="640080" y="4892040"/>
            <a:ext cx="2011680" cy="0"/>
          </a:xfrm>
          <a:prstGeom prst="line">
            <a:avLst/>
          </a:prstGeom>
          <a:noFill/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Text 12"/>
          <p:cNvSpPr/>
          <p:nvPr/>
        </p:nvSpPr>
        <p:spPr>
          <a:xfrm>
            <a:off x="640080" y="5074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Aldo Nunes  ·  CESMAC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referência: IBM Data Science Methodology (Coursera)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RETOMADA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Encontro 2, transformamos um problema em dados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697480" cy="1371600"/>
          </a:xfrm>
          <a:prstGeom prst="chevron">
            <a:avLst/>
          </a:prstGeom>
          <a:solidFill>
            <a:srgbClr val="0A4A57"/>
          </a:solidFill>
          <a:ln w="12700">
            <a:solidFill>
              <a:srgbClr val="0A4A5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/>
          <p:nvPr/>
        </p:nvSpPr>
        <p:spPr>
          <a:xfrm>
            <a:off x="886968" y="21762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86968" y="25420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resolvido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697480" cy="1371600"/>
          </a:xfrm>
          <a:prstGeom prst="chevron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/>
          <p:nvPr/>
        </p:nvSpPr>
        <p:spPr>
          <a:xfrm>
            <a:off x="3675888" y="21762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675888" y="25420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buscamos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920240"/>
            <a:ext cx="2697480" cy="1371600"/>
          </a:xfrm>
          <a:prstGeom prst="chevron">
            <a:avLst/>
          </a:prstGeom>
          <a:solidFill>
            <a:srgbClr val="2A7D8C"/>
          </a:solidFill>
          <a:ln w="12700">
            <a:solidFill>
              <a:srgbClr val="2A7D8C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11"/>
          <p:cNvSpPr/>
          <p:nvPr/>
        </p:nvSpPr>
        <p:spPr>
          <a:xfrm>
            <a:off x="6464808" y="21762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64808" y="25420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quais dados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69680" y="1920240"/>
            <a:ext cx="2697480" cy="1371600"/>
          </a:xfrm>
          <a:prstGeom prst="chevron">
            <a:avLst/>
          </a:prstGeom>
          <a:solidFill>
            <a:srgbClr val="4E93A0"/>
          </a:solidFill>
          <a:ln w="12700">
            <a:solidFill>
              <a:srgbClr val="4E93A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/>
          <p:nvPr/>
        </p:nvSpPr>
        <p:spPr>
          <a:xfrm>
            <a:off x="9253728" y="21762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253728" y="25420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 como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obtê-los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977640"/>
            <a:ext cx="11183112" cy="1737360"/>
          </a:xfrm>
          <a:prstGeom prst="roundRect">
            <a:avLst>
              <a:gd name="adj" fmla="val 4737"/>
            </a:avLst>
          </a:prstGeom>
          <a:solidFill>
            <a:srgbClr val="FCEBCF"/>
          </a:solidFill>
          <a:ln w="12700">
            <a:solidFill>
              <a:srgbClr val="FCEBC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9" name="Image 0" descr="/private/tmp/claude-501/-Users-aldonunes-Cesmac-1-Ciencia-de-Dados-aulas-002/de4d4c8d-184c-48ab-b42d-2bb8962e5f24/scratchpad/icons/help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26280"/>
            <a:ext cx="640080" cy="6400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920240" y="43159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dados chegaram. E agora?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920240" y="484632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dados não encerra o trabalho — inaugura a parte mais delicada dele. Hoje seguimos o ciclo: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 → preparação → modelagem → avaliação → implantação → feedback.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COMPLETO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 etapas da metodologia — e onde estamos hoje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2084832"/>
            <a:ext cx="2139696" cy="969264"/>
          </a:xfrm>
          <a:prstGeom prst="roundRect">
            <a:avLst>
              <a:gd name="adj" fmla="val 8491"/>
            </a:avLst>
          </a:prstGeom>
          <a:solidFill>
            <a:srgbClr val="EDF0F1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630936" y="2212848"/>
            <a:ext cx="329184" cy="329184"/>
          </a:xfrm>
          <a:prstGeom prst="ellipse">
            <a:avLst/>
          </a:prstGeom>
          <a:solidFill>
            <a:srgbClr val="B9C4C8"/>
          </a:solidFill>
          <a:ln w="12700">
            <a:solidFill>
              <a:srgbClr val="B9C4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/>
          <p:nvPr/>
        </p:nvSpPr>
        <p:spPr>
          <a:xfrm>
            <a:off x="630936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" y="2578608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 do negócio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61488" y="2084832"/>
            <a:ext cx="2139696" cy="969264"/>
          </a:xfrm>
          <a:prstGeom prst="roundRect">
            <a:avLst>
              <a:gd name="adj" fmla="val 8491"/>
            </a:avLst>
          </a:prstGeom>
          <a:solidFill>
            <a:srgbClr val="EDF0F1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Shape 9"/>
          <p:cNvSpPr/>
          <p:nvPr/>
        </p:nvSpPr>
        <p:spPr>
          <a:xfrm>
            <a:off x="2889504" y="2212848"/>
            <a:ext cx="329184" cy="329184"/>
          </a:xfrm>
          <a:prstGeom prst="ellipse">
            <a:avLst/>
          </a:prstGeom>
          <a:solidFill>
            <a:srgbClr val="B9C4C8"/>
          </a:solidFill>
          <a:ln w="12700">
            <a:solidFill>
              <a:srgbClr val="B9C4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/>
          <p:nvPr/>
        </p:nvSpPr>
        <p:spPr>
          <a:xfrm>
            <a:off x="2889504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07792" y="2578608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analítica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0056" y="2084832"/>
            <a:ext cx="2139696" cy="969264"/>
          </a:xfrm>
          <a:prstGeom prst="roundRect">
            <a:avLst>
              <a:gd name="adj" fmla="val 8491"/>
            </a:avLst>
          </a:prstGeom>
          <a:solidFill>
            <a:srgbClr val="EDF0F1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Shape 13"/>
          <p:cNvSpPr/>
          <p:nvPr/>
        </p:nvSpPr>
        <p:spPr>
          <a:xfrm>
            <a:off x="5148072" y="2212848"/>
            <a:ext cx="329184" cy="329184"/>
          </a:xfrm>
          <a:prstGeom prst="ellipse">
            <a:avLst/>
          </a:prstGeom>
          <a:solidFill>
            <a:srgbClr val="B9C4C8"/>
          </a:solidFill>
          <a:ln w="12700">
            <a:solidFill>
              <a:srgbClr val="B9C4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/>
          <p:nvPr/>
        </p:nvSpPr>
        <p:spPr>
          <a:xfrm>
            <a:off x="5148072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2578608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dados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278624" y="2084832"/>
            <a:ext cx="2139696" cy="969264"/>
          </a:xfrm>
          <a:prstGeom prst="roundRect">
            <a:avLst>
              <a:gd name="adj" fmla="val 8491"/>
            </a:avLst>
          </a:prstGeom>
          <a:solidFill>
            <a:srgbClr val="EDF0F1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Shape 17"/>
          <p:cNvSpPr/>
          <p:nvPr/>
        </p:nvSpPr>
        <p:spPr>
          <a:xfrm>
            <a:off x="7406640" y="2212848"/>
            <a:ext cx="329184" cy="329184"/>
          </a:xfrm>
          <a:prstGeom prst="ellipse">
            <a:avLst/>
          </a:prstGeom>
          <a:solidFill>
            <a:srgbClr val="B9C4C8"/>
          </a:solidFill>
          <a:ln w="12700">
            <a:solidFill>
              <a:srgbClr val="B9C4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Text 18"/>
          <p:cNvSpPr/>
          <p:nvPr/>
        </p:nvSpPr>
        <p:spPr>
          <a:xfrm>
            <a:off x="7406640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24928" y="2578608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de dados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537192" y="2084832"/>
            <a:ext cx="2139696" cy="969264"/>
          </a:xfrm>
          <a:prstGeom prst="roundRect">
            <a:avLst>
              <a:gd name="adj" fmla="val 8491"/>
            </a:avLst>
          </a:prstGeom>
          <a:solidFill>
            <a:srgbClr val="EAF2F4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Shape 21"/>
          <p:cNvSpPr/>
          <p:nvPr/>
        </p:nvSpPr>
        <p:spPr>
          <a:xfrm>
            <a:off x="9665208" y="2212848"/>
            <a:ext cx="329184" cy="329184"/>
          </a:xfrm>
          <a:prstGeom prst="ellipse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Text 22"/>
          <p:cNvSpPr/>
          <p:nvPr/>
        </p:nvSpPr>
        <p:spPr>
          <a:xfrm>
            <a:off x="966520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83496" y="2578608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 dos dados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3511296"/>
            <a:ext cx="2139696" cy="969264"/>
          </a:xfrm>
          <a:prstGeom prst="roundRect">
            <a:avLst>
              <a:gd name="adj" fmla="val 8491"/>
            </a:avLst>
          </a:prstGeom>
          <a:solidFill>
            <a:srgbClr val="EAF2F4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Shape 25"/>
          <p:cNvSpPr/>
          <p:nvPr/>
        </p:nvSpPr>
        <p:spPr>
          <a:xfrm>
            <a:off x="630936" y="3639312"/>
            <a:ext cx="329184" cy="329184"/>
          </a:xfrm>
          <a:prstGeom prst="ellipse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8" name="Text 26"/>
          <p:cNvSpPr/>
          <p:nvPr/>
        </p:nvSpPr>
        <p:spPr>
          <a:xfrm>
            <a:off x="630936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" y="4005072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dos dados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61488" y="3511296"/>
            <a:ext cx="2139696" cy="969264"/>
          </a:xfrm>
          <a:prstGeom prst="roundRect">
            <a:avLst>
              <a:gd name="adj" fmla="val 8491"/>
            </a:avLst>
          </a:prstGeom>
          <a:solidFill>
            <a:srgbClr val="EAF2F4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1" name="Shape 29"/>
          <p:cNvSpPr/>
          <p:nvPr/>
        </p:nvSpPr>
        <p:spPr>
          <a:xfrm>
            <a:off x="2889504" y="3639312"/>
            <a:ext cx="329184" cy="329184"/>
          </a:xfrm>
          <a:prstGeom prst="ellipse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2" name="Text 30"/>
          <p:cNvSpPr/>
          <p:nvPr/>
        </p:nvSpPr>
        <p:spPr>
          <a:xfrm>
            <a:off x="2889504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07792" y="4005072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0056" y="3511296"/>
            <a:ext cx="2139696" cy="969264"/>
          </a:xfrm>
          <a:prstGeom prst="roundRect">
            <a:avLst>
              <a:gd name="adj" fmla="val 8491"/>
            </a:avLst>
          </a:prstGeom>
          <a:solidFill>
            <a:srgbClr val="EAF2F4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5" name="Shape 33"/>
          <p:cNvSpPr/>
          <p:nvPr/>
        </p:nvSpPr>
        <p:spPr>
          <a:xfrm>
            <a:off x="5148072" y="3639312"/>
            <a:ext cx="329184" cy="329184"/>
          </a:xfrm>
          <a:prstGeom prst="ellipse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6" name="Text 34"/>
          <p:cNvSpPr/>
          <p:nvPr/>
        </p:nvSpPr>
        <p:spPr>
          <a:xfrm>
            <a:off x="5148072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4005072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278624" y="3511296"/>
            <a:ext cx="2139696" cy="969264"/>
          </a:xfrm>
          <a:prstGeom prst="roundRect">
            <a:avLst>
              <a:gd name="adj" fmla="val 8491"/>
            </a:avLst>
          </a:prstGeom>
          <a:solidFill>
            <a:srgbClr val="EAF2F4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9" name="Shape 37"/>
          <p:cNvSpPr/>
          <p:nvPr/>
        </p:nvSpPr>
        <p:spPr>
          <a:xfrm>
            <a:off x="7406640" y="3639312"/>
            <a:ext cx="329184" cy="329184"/>
          </a:xfrm>
          <a:prstGeom prst="ellipse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0" name="Text 38"/>
          <p:cNvSpPr/>
          <p:nvPr/>
        </p:nvSpPr>
        <p:spPr>
          <a:xfrm>
            <a:off x="740664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24928" y="4005072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537192" y="3511296"/>
            <a:ext cx="2139696" cy="969264"/>
          </a:xfrm>
          <a:prstGeom prst="roundRect">
            <a:avLst>
              <a:gd name="adj" fmla="val 8491"/>
            </a:avLst>
          </a:prstGeom>
          <a:solidFill>
            <a:srgbClr val="EAF2F4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3" name="Shape 41"/>
          <p:cNvSpPr/>
          <p:nvPr/>
        </p:nvSpPr>
        <p:spPr>
          <a:xfrm>
            <a:off x="9665208" y="3639312"/>
            <a:ext cx="329184" cy="329184"/>
          </a:xfrm>
          <a:prstGeom prst="ellipse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4" name="Text 42"/>
          <p:cNvSpPr/>
          <p:nvPr/>
        </p:nvSpPr>
        <p:spPr>
          <a:xfrm>
            <a:off x="9665208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683496" y="4005072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0292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2 — feito ✓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537192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— as seis etapas restantes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2920" y="5120640"/>
            <a:ext cx="11183112" cy="914400"/>
          </a:xfrm>
          <a:prstGeom prst="roundRect">
            <a:avLst>
              <a:gd name="adj" fmla="val 9000"/>
            </a:avLst>
          </a:prstGeom>
          <a:solidFill>
            <a:srgbClr val="F5F9FA"/>
          </a:solidFill>
          <a:ln w="12700">
            <a:solidFill>
              <a:srgbClr val="CFDD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49" name="Image 0" descr="/private/tmp/claude-501/-Users-aldonunes-Cesmac-1-Ciencia-de-Dados-aulas-002/de4d4c8d-184c-48ab-b42d-2bb8962e5f24/scratchpad/icons/refresh_pe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349240"/>
            <a:ext cx="457200" cy="45720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1463040" y="5230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metodologia é iterativa. </a:t>
            </a: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setas também apontam para trás: entender os dados pode reabrir a coleta; avaliar o modelo pode reabrir a preparação. Voltar não é fracasso — é o método funcionando.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224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3520440" y="1783080"/>
            <a:ext cx="777240" cy="777240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6" name="Image 0" descr="/private/tmp/claude-501/-Users-aldonunes-Cesmac-1-Ciencia-de-Dados-aulas-002/de4d4c8d-184c-48ab-b42d-2bb8962e5f24/scratchpad/icons/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522" y="19851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26280" y="1783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07992" y="20848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Entendimento dos Dados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526280" y="3017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FAA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desta etapa:  </a:t>
            </a:r>
            <a:r>
              <a:rPr lang="en-US" sz="1700" i="1" dirty="0">
                <a:solidFill>
                  <a:srgbClr val="FCEB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“Os dados que coletei representam o problema que quero resolver?”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2920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8"/>
          <p:cNvSpPr/>
          <p:nvPr/>
        </p:nvSpPr>
        <p:spPr>
          <a:xfrm>
            <a:off x="502920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388108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10"/>
          <p:cNvSpPr/>
          <p:nvPr/>
        </p:nvSpPr>
        <p:spPr>
          <a:xfrm>
            <a:off x="2388108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73296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Text 12"/>
          <p:cNvSpPr/>
          <p:nvPr/>
        </p:nvSpPr>
        <p:spPr>
          <a:xfrm>
            <a:off x="4273296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58484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Text 14"/>
          <p:cNvSpPr/>
          <p:nvPr/>
        </p:nvSpPr>
        <p:spPr>
          <a:xfrm>
            <a:off x="6158484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43672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Text 16"/>
          <p:cNvSpPr/>
          <p:nvPr/>
        </p:nvSpPr>
        <p:spPr>
          <a:xfrm>
            <a:off x="8043672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928860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Text 18"/>
          <p:cNvSpPr/>
          <p:nvPr/>
        </p:nvSpPr>
        <p:spPr>
          <a:xfrm>
            <a:off x="9928860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ENTENDIMENTO DOS DADOS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Conhecer a base antes de confiar nela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entendimento dos dados reúne todas as atividades usadas para construir e conhecer o conjunto de dados. É aqui que descobrimos se aquilo que coletamos realmente descreve o fenômeno que queremos estudar.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4937760" cy="3200400"/>
          </a:xfrm>
          <a:prstGeom prst="roundRect">
            <a:avLst>
              <a:gd name="adj" fmla="val 2571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VERIFICAR NA PRÁTICA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401568"/>
            <a:ext cx="4434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linhas e colunas existem — e o que cada linha significa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variáveis, distribuições e valores extremos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Ausências e inconsistências entre registros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base cobre o período, o público e o recorte da pergunta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06440" y="1591056"/>
            <a:ext cx="475488" cy="475488"/>
          </a:xfrm>
          <a:prstGeom prst="ellipse">
            <a:avLst/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1" name="Image 0" descr="/private/tmp/claude-501/-Users-aldonunes-Cesmac-1-Ciencia-de-Dados-aulas-002/de4d4c8d-184c-48ab-b42d-2bb8962e5f24/scratchpad/icons/chart_pe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067" y="1714683"/>
            <a:ext cx="228234" cy="22823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46520" y="155448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Estatísticas univariadas
</a:t>
            </a: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média, mediana, mínimo, máximo e desvio padrão de cada variável candidata a entrar no modelo.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806440" y="2752344"/>
            <a:ext cx="475488" cy="475488"/>
          </a:xfrm>
          <a:prstGeom prst="ellipse">
            <a:avLst/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4" name="Image 1" descr="/private/tmp/claude-501/-Users-aldonunes-Cesmac-1-Ciencia-de-Dados-aulas-002/de4d4c8d-184c-48ab-b42d-2bb8962e5f24/scratchpad/icons/gitbranch_petr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067" y="2875971"/>
            <a:ext cx="228234" cy="22823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46520" y="2715768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Correlações pareadas
</a:t>
            </a: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altamente correlacionadas são quase redundantes — muitas vezes basta manter uma delas.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806440" y="3913632"/>
            <a:ext cx="475488" cy="475488"/>
          </a:xfrm>
          <a:prstGeom prst="ellipse">
            <a:avLst/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7" name="Image 2" descr="/private/tmp/claude-501/-Users-aldonunes-Cesmac-1-Ciencia-de-Dados-aulas-002/de4d4c8d-184c-48ab-b42d-2bb8962e5f24/scratchpad/icons/activity_petr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067" y="4037259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3877056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Histogramas
</a:t>
            </a: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revelam a forma da distribuição e sugerem preparações: agrupar categorias raras, tratar caudas, recodificar.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806440" y="5074920"/>
            <a:ext cx="475488" cy="475488"/>
          </a:xfrm>
          <a:prstGeom prst="ellipse">
            <a:avLst/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0" name="Image 3" descr="/private/tmp/claude-501/-Users-aldonunes-Cesmac-1-Ciencia-de-Dados-aulas-002/de4d4c8d-184c-48ab-b42d-2bb8962e5f24/scratchpad/icons/alert_petr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0067" y="5198547"/>
            <a:ext cx="228234" cy="22823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46520" y="5038344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dos dados
</a:t>
            </a: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ausentes, inválidos e enganosos aparecem aqui — antes que contaminem o modelo.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ENTENDIMENTO DOS DADOS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“Ausente” significa alguma coisa?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602736" cy="2286000"/>
          </a:xfrm>
          <a:prstGeom prst="roundRect">
            <a:avLst>
              <a:gd name="adj" fmla="val 3600"/>
            </a:avLst>
          </a:prstGeom>
          <a:solidFill>
            <a:srgbClr val="E4EFE9"/>
          </a:solidFill>
          <a:ln w="12700">
            <a:solidFill>
              <a:srgbClr val="E4EFE9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758952" y="18745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8" name="Image 0" descr="/private/tmp/claude-501/-Users-aldonunes-Cesmac-1-Ciencia-de-Dados-aulas-002/de4d4c8d-184c-48ab-b42d-2bb8962e5f24/scratchpad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" y="200527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251460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significar “não”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58952" y="2898648"/>
            <a:ext cx="3090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campo de agravo de saúde vazio pode indicar que o paciente não tem a condição — o vazio carrega informação.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88536" y="1600200"/>
            <a:ext cx="3602736" cy="2286000"/>
          </a:xfrm>
          <a:prstGeom prst="roundRect">
            <a:avLst>
              <a:gd name="adj" fmla="val 3600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Shape 9"/>
          <p:cNvSpPr/>
          <p:nvPr/>
        </p:nvSpPr>
        <p:spPr>
          <a:xfrm>
            <a:off x="4544568" y="18745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3" name="Image 1" descr="/private/tmp/claude-501/-Users-aldonunes-Cesmac-1-Ciencia-de-Dados-aulas-002/de4d4c8d-184c-48ab-b42d-2bb8962e5f24/scratchpad/icons/help_petr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327" y="200527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44568" y="251460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significar zero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44568" y="2898648"/>
            <a:ext cx="3090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Faltas não registradas podem ser zero faltas… ou registro que nunca foi feito. Os dois casos são muito diferentes.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74152" y="1600200"/>
            <a:ext cx="3602736" cy="2286000"/>
          </a:xfrm>
          <a:prstGeom prst="roundRect">
            <a:avLst>
              <a:gd name="adj" fmla="val 3600"/>
            </a:avLst>
          </a:prstGeom>
          <a:solidFill>
            <a:srgbClr val="F6E3E1"/>
          </a:solidFill>
          <a:ln w="12700">
            <a:solidFill>
              <a:srgbClr val="F6E3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Shape 13"/>
          <p:cNvSpPr/>
          <p:nvPr/>
        </p:nvSpPr>
        <p:spPr>
          <a:xfrm>
            <a:off x="8330184" y="18745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8" name="Image 2" descr="/private/tmp/claude-501/-Users-aldonunes-Cesmac-1-Ciencia-de-Dados-aulas-002/de4d4c8d-184c-48ab-b42d-2bb8962e5f24/scratchpad/icons/x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0943" y="200527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0184" y="251460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significar “não sabemos”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330184" y="2898648"/>
            <a:ext cx="3090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vazio é apenas falta de registro, tratá-lo como informação inventa um dado que não existe.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02920" y="4160520"/>
            <a:ext cx="11183112" cy="1874520"/>
          </a:xfrm>
          <a:prstGeom prst="roundRect">
            <a:avLst>
              <a:gd name="adj" fmla="val 4390"/>
            </a:avLst>
          </a:prstGeom>
          <a:solidFill>
            <a:srgbClr val="10262E"/>
          </a:solidFill>
          <a:ln w="12700">
            <a:solidFill>
              <a:srgbClr val="10262E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Text 17"/>
          <p:cNvSpPr/>
          <p:nvPr/>
        </p:nvSpPr>
        <p:spPr>
          <a:xfrm>
            <a:off x="86868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CLÁSSICO “999”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68680" y="47548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variável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</a:t>
            </a:r>
            <a:r>
              <a:rPr lang="en-US" sz="135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traz valores de 0 a 100 — e também 999, o código que alguém usou para “sem informação”. Se ninguém corrigir, o modelo aprende que existem pacientes com 999 anos.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8229600" y="4892040"/>
            <a:ext cx="749808" cy="566928"/>
          </a:xfrm>
          <a:prstGeom prst="roundRect">
            <a:avLst>
              <a:gd name="adj" fmla="val 14516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5" name="Text 20"/>
          <p:cNvSpPr/>
          <p:nvPr/>
        </p:nvSpPr>
        <p:spPr>
          <a:xfrm>
            <a:off x="8229600" y="48920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9070848" y="4892040"/>
            <a:ext cx="749808" cy="566928"/>
          </a:xfrm>
          <a:prstGeom prst="roundRect">
            <a:avLst>
              <a:gd name="adj" fmla="val 14516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Text 22"/>
          <p:cNvSpPr/>
          <p:nvPr/>
        </p:nvSpPr>
        <p:spPr>
          <a:xfrm>
            <a:off x="9070848" y="48920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9912096" y="4892040"/>
            <a:ext cx="749808" cy="566928"/>
          </a:xfrm>
          <a:prstGeom prst="roundRect">
            <a:avLst>
              <a:gd name="adj" fmla="val 14516"/>
            </a:avLst>
          </a:prstGeom>
          <a:solidFill>
            <a:srgbClr val="B5504A"/>
          </a:solidFill>
          <a:ln w="12700">
            <a:solidFill>
              <a:srgbClr val="B5504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9" name="Text 24"/>
          <p:cNvSpPr/>
          <p:nvPr/>
        </p:nvSpPr>
        <p:spPr>
          <a:xfrm>
            <a:off x="9912096" y="48920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10753344" y="4892040"/>
            <a:ext cx="749808" cy="566928"/>
          </a:xfrm>
          <a:prstGeom prst="roundRect">
            <a:avLst>
              <a:gd name="adj" fmla="val 14516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1" name="Text 26"/>
          <p:cNvSpPr/>
          <p:nvPr/>
        </p:nvSpPr>
        <p:spPr>
          <a:xfrm>
            <a:off x="10753344" y="48920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8229600" y="4590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→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IBM · READMISSÃO HOSPITALAR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entender os dados reabre a coleta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estudo de </a:t>
            </a:r>
            <a:r>
              <a:rPr lang="en-US" sz="1400" dirty="0" err="1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objetivo era prever readmissões por insuficiência cardíaca congestiva (ICC). O entendimento dos dados mudou a própria definição do problema: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2587752" cy="2103120"/>
          </a:xfrm>
          <a:prstGeom prst="roundRect">
            <a:avLst>
              <a:gd name="adj" fmla="val 3913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722376" y="2615184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9" name="Image 0" descr="/private/tmp/claude-501/-Users-aldonunes-Cesmac-1-Ciencia-de-Dados-aulas-002/de4d4c8d-184c-48ab-b42d-2bb8962e5f24/scratchpad/icons/file_pe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03" y="2738811"/>
            <a:ext cx="228234" cy="2282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2376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inicial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22376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admissão por ICC = diagnóstico primário de ICC</a:t>
            </a:r>
            <a:endParaRPr lang="en-US" sz="1150" dirty="0"/>
          </a:p>
        </p:txBody>
      </p:sp>
      <p:pic>
        <p:nvPicPr>
          <p:cNvPr id="12" name="Image 1" descr="/private/tmp/claude-501/-Users-aldonunes-Cesmac-1-Ciencia-de-Dados-aulas-002/de4d4c8d-184c-48ab-b42d-2bb8962e5f24/scratchpad/icons/arrowright_mu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388" y="3300984"/>
            <a:ext cx="265176" cy="26517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83280" y="2377440"/>
            <a:ext cx="2587752" cy="2103120"/>
          </a:xfrm>
          <a:prstGeom prst="roundRect">
            <a:avLst>
              <a:gd name="adj" fmla="val 3913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Shape 10"/>
          <p:cNvSpPr/>
          <p:nvPr/>
        </p:nvSpPr>
        <p:spPr>
          <a:xfrm>
            <a:off x="3602736" y="2615184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5" name="Image 2" descr="/private/tmp/claude-501/-Users-aldonunes-Cesmac-1-Ciencia-de-Dados-aulas-002/de4d4c8d-184c-48ab-b42d-2bb8962e5f24/scratchpad/icons/alert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363" y="2738811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02736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revelaram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602736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faltavam admissões que a experiência clínica esperava encontrar</a:t>
            </a:r>
            <a:endParaRPr lang="en-US" sz="1150" dirty="0"/>
          </a:p>
        </p:txBody>
      </p:sp>
      <p:pic>
        <p:nvPicPr>
          <p:cNvPr id="18" name="Image 3" descr="/private/tmp/claude-501/-Users-aldonunes-Cesmac-1-Ciencia-de-Dados-aulas-002/de4d4c8d-184c-48ab-b42d-2bb8962e5f24/scratchpad/icons/arrowright_mu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748" y="3300984"/>
            <a:ext cx="265176" cy="26517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63640" y="2377440"/>
            <a:ext cx="2587752" cy="2103120"/>
          </a:xfrm>
          <a:prstGeom prst="roundRect">
            <a:avLst>
              <a:gd name="adj" fmla="val 3913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Shape 14"/>
          <p:cNvSpPr/>
          <p:nvPr/>
        </p:nvSpPr>
        <p:spPr>
          <a:xfrm>
            <a:off x="6483096" y="2615184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1" name="Image 4" descr="/private/tmp/claude-501/-Users-aldonunes-Cesmac-1-Ciencia-de-Dados-aulas-002/de4d4c8d-184c-48ab-b42d-2bb8962e5f24/scratchpad/icons/cornerloop_petr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723" y="2738811"/>
            <a:ext cx="228234" cy="22823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83096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volta à coleta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483096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também diagnósticos secundários e terciários</a:t>
            </a:r>
            <a:endParaRPr lang="en-US" sz="1150" dirty="0"/>
          </a:p>
        </p:txBody>
      </p:sp>
      <p:pic>
        <p:nvPicPr>
          <p:cNvPr id="24" name="Image 5" descr="/private/tmp/claude-501/-Users-aldonunes-Cesmac-1-Ciencia-de-Dados-aulas-002/de4d4c8d-184c-48ab-b42d-2bb8962e5f24/scratchpad/icons/arrowright_mu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5108" y="3300984"/>
            <a:ext cx="265176" cy="26517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144000" y="2377440"/>
            <a:ext cx="2587752" cy="2103120"/>
          </a:xfrm>
          <a:prstGeom prst="roundRect">
            <a:avLst>
              <a:gd name="adj" fmla="val 3913"/>
            </a:avLst>
          </a:prstGeom>
          <a:solidFill>
            <a:srgbClr val="E4EFE9"/>
          </a:solidFill>
          <a:ln w="12700">
            <a:solidFill>
              <a:srgbClr val="E4EFE9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6" name="Shape 18"/>
          <p:cNvSpPr/>
          <p:nvPr/>
        </p:nvSpPr>
        <p:spPr>
          <a:xfrm>
            <a:off x="9363456" y="2615184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7" name="Image 6" descr="/private/tmp/claude-501/-Users-aldonunes-Cesmac-1-Ciencia-de-Dados-aulas-002/de4d4c8d-184c-48ab-b42d-2bb8962e5f24/scratchpad/icons/check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083" y="2738811"/>
            <a:ext cx="228234" cy="22823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363456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refinada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9363456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noção de admissão por ICC mais completa e fiel à clínica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502920" y="4892040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FCEBCF"/>
          </a:solidFill>
          <a:ln w="12700">
            <a:solidFill>
              <a:srgbClr val="FCEBC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1" name="Text 22"/>
          <p:cNvSpPr/>
          <p:nvPr/>
        </p:nvSpPr>
        <p:spPr>
          <a:xfrm>
            <a:off x="868680" y="50292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se trabalha com o problema e com os dados, mais se aprende — </a:t>
            </a: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mais o modelo pode ser refinado. Iterar entre etapas não é exceção: é o comportamento esperado da metodologia.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TRAZENDO PARA A NOSSA REALIDADE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tem uma coluna “evasao”. Isso basta?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377440" cy="4206240"/>
          </a:xfrm>
          <a:prstGeom prst="roundRect">
            <a:avLst>
              <a:gd name="adj" fmla="val 3462"/>
            </a:avLst>
          </a:prstGeom>
          <a:solidFill>
            <a:srgbClr val="10262E"/>
          </a:solidFill>
          <a:ln w="12700">
            <a:solidFill>
              <a:srgbClr val="10262E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A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alunos.csv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1143000" cy="420624"/>
          </a:xfrm>
          <a:prstGeom prst="roundRect">
            <a:avLst>
              <a:gd name="adj" fmla="val 19565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Shape 7"/>
          <p:cNvSpPr/>
          <p:nvPr/>
        </p:nvSpPr>
        <p:spPr>
          <a:xfrm>
            <a:off x="1938528" y="2240280"/>
            <a:ext cx="713232" cy="420624"/>
          </a:xfrm>
          <a:prstGeom prst="roundRect">
            <a:avLst>
              <a:gd name="adj" fmla="val 19565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A1023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38528" y="2240280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52344"/>
            <a:ext cx="1143000" cy="420624"/>
          </a:xfrm>
          <a:prstGeom prst="roundRect">
            <a:avLst>
              <a:gd name="adj" fmla="val 19565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Shape 11"/>
          <p:cNvSpPr/>
          <p:nvPr/>
        </p:nvSpPr>
        <p:spPr>
          <a:xfrm>
            <a:off x="1938528" y="2752344"/>
            <a:ext cx="713232" cy="420624"/>
          </a:xfrm>
          <a:prstGeom prst="roundRect">
            <a:avLst>
              <a:gd name="adj" fmla="val 19565"/>
            </a:avLst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/>
          <p:nvPr/>
        </p:nvSpPr>
        <p:spPr>
          <a:xfrm>
            <a:off x="731520" y="275234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A1024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38528" y="275234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264408"/>
            <a:ext cx="1143000" cy="420624"/>
          </a:xfrm>
          <a:prstGeom prst="roundRect">
            <a:avLst>
              <a:gd name="adj" fmla="val 19565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Shape 15"/>
          <p:cNvSpPr/>
          <p:nvPr/>
        </p:nvSpPr>
        <p:spPr>
          <a:xfrm>
            <a:off x="1938528" y="3264408"/>
            <a:ext cx="713232" cy="420624"/>
          </a:xfrm>
          <a:prstGeom prst="roundRect">
            <a:avLst>
              <a:gd name="adj" fmla="val 19565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Text 16"/>
          <p:cNvSpPr/>
          <p:nvPr/>
        </p:nvSpPr>
        <p:spPr>
          <a:xfrm>
            <a:off x="731520" y="326440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A1025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38528" y="326440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776472"/>
            <a:ext cx="1143000" cy="420624"/>
          </a:xfrm>
          <a:prstGeom prst="roundRect">
            <a:avLst>
              <a:gd name="adj" fmla="val 19565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Shape 19"/>
          <p:cNvSpPr/>
          <p:nvPr/>
        </p:nvSpPr>
        <p:spPr>
          <a:xfrm>
            <a:off x="1938528" y="3776472"/>
            <a:ext cx="713232" cy="420624"/>
          </a:xfrm>
          <a:prstGeom prst="roundRect">
            <a:avLst>
              <a:gd name="adj" fmla="val 19565"/>
            </a:avLst>
          </a:prstGeom>
          <a:solidFill>
            <a:srgbClr val="B5504A"/>
          </a:solidFill>
          <a:ln w="12700">
            <a:solidFill>
              <a:srgbClr val="B5504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Text 20"/>
          <p:cNvSpPr/>
          <p:nvPr/>
        </p:nvSpPr>
        <p:spPr>
          <a:xfrm>
            <a:off x="731520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A1026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38528" y="377647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288536"/>
            <a:ext cx="1143000" cy="420624"/>
          </a:xfrm>
          <a:prstGeom prst="roundRect">
            <a:avLst>
              <a:gd name="adj" fmla="val 19565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5" name="Shape 23"/>
          <p:cNvSpPr/>
          <p:nvPr/>
        </p:nvSpPr>
        <p:spPr>
          <a:xfrm>
            <a:off x="1938528" y="4288536"/>
            <a:ext cx="713232" cy="420624"/>
          </a:xfrm>
          <a:prstGeom prst="roundRect">
            <a:avLst>
              <a:gd name="adj" fmla="val 19565"/>
            </a:avLst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/>
          <p:nvPr/>
        </p:nvSpPr>
        <p:spPr>
          <a:xfrm>
            <a:off x="731520" y="42885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A1027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38528" y="428853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800600"/>
            <a:ext cx="1143000" cy="420624"/>
          </a:xfrm>
          <a:prstGeom prst="roundRect">
            <a:avLst>
              <a:gd name="adj" fmla="val 19565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9" name="Shape 27"/>
          <p:cNvSpPr/>
          <p:nvPr/>
        </p:nvSpPr>
        <p:spPr>
          <a:xfrm>
            <a:off x="1938528" y="4800600"/>
            <a:ext cx="713232" cy="420624"/>
          </a:xfrm>
          <a:prstGeom prst="roundRect">
            <a:avLst>
              <a:gd name="adj" fmla="val 19565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0" name="Text 28"/>
          <p:cNvSpPr/>
          <p:nvPr/>
        </p:nvSpPr>
        <p:spPr>
          <a:xfrm>
            <a:off x="731520" y="480060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A1028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38528" y="4800600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5440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88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matricula      evasao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290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usar essa coluna como alvo de um modelo, precisamos responder: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3794760" y="2194560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“evasão” foi definida?  </a:t>
            </a: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 formal? não renovação de matrícula? critério do MEC ou da instituição?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794760" y="2907792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ela foi registrada?  </a:t>
            </a: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ato do desligamento ou meses depois, em auditoria?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794760" y="3621024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Trancamento conta como evasão?  </a:t>
            </a: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transferência interna de curso?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94760" y="4334256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transferidos estão incluídos?  </a:t>
            </a: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da instituição não é o mesmo que abandonar os estudos.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794760" y="5047488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registros incompletos?  </a:t>
            </a: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“?” da linha A1026 é evasão, permanência ou falta de registro?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224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3520440" y="1783080"/>
            <a:ext cx="777240" cy="777240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6" name="Image 0" descr="/private/tmp/claude-501/-Users-aldonunes-Cesmac-1-Ciencia-de-Dados-aulas-002/de4d4c8d-184c-48ab-b42d-2bb8962e5f24/scratchpad/icons/fil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522" y="19851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26280" y="1783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07992" y="20848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Preparação dos Dados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526280" y="3017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FAA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desta etapa:  </a:t>
            </a:r>
            <a:r>
              <a:rPr lang="en-US" sz="1700" i="1" dirty="0">
                <a:solidFill>
                  <a:srgbClr val="FCEB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que é preciso fazer para os dados ficarem prontos para o trabalho?”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2920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8"/>
          <p:cNvSpPr/>
          <p:nvPr/>
        </p:nvSpPr>
        <p:spPr>
          <a:xfrm>
            <a:off x="502920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388108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10"/>
          <p:cNvSpPr/>
          <p:nvPr/>
        </p:nvSpPr>
        <p:spPr>
          <a:xfrm>
            <a:off x="2388108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73296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Text 12"/>
          <p:cNvSpPr/>
          <p:nvPr/>
        </p:nvSpPr>
        <p:spPr>
          <a:xfrm>
            <a:off x="4273296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58484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Text 14"/>
          <p:cNvSpPr/>
          <p:nvPr/>
        </p:nvSpPr>
        <p:spPr>
          <a:xfrm>
            <a:off x="6158484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43672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Text 16"/>
          <p:cNvSpPr/>
          <p:nvPr/>
        </p:nvSpPr>
        <p:spPr>
          <a:xfrm>
            <a:off x="8043672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928860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Text 18"/>
          <p:cNvSpPr/>
          <p:nvPr/>
        </p:nvSpPr>
        <p:spPr>
          <a:xfrm>
            <a:off x="9928860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PREPARAÇÃO DOS DADOS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etapa que consome o projeto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760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valores ausentes — decidir, caso a caso, o que eles significam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inválidos e enganosos; remover duplicidades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formatos, unidades e categorias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fontes diferentes em uma base coerente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registros que pertencem ao recorte da pergunta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novas variáveis e ajustar a granularidade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5257800"/>
            <a:ext cx="5760720" cy="868680"/>
          </a:xfrm>
          <a:prstGeom prst="roundRect">
            <a:avLst>
              <a:gd name="adj" fmla="val 9474"/>
            </a:avLst>
          </a:prstGeom>
          <a:solidFill>
            <a:srgbClr val="F5F9FA"/>
          </a:solidFill>
          <a:ln w="12700">
            <a:solidFill>
              <a:srgbClr val="CFDD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/>
          <p:nvPr/>
        </p:nvSpPr>
        <p:spPr>
          <a:xfrm>
            <a:off x="777240" y="534924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 com capricho, sustenta o projeto inteiro. </a:t>
            </a: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Pulado, cobra o preço lá na frente — “basta um ingrediente ruim para estragar o prato”.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29400" y="1645920"/>
            <a:ext cx="5056632" cy="4480560"/>
          </a:xfrm>
          <a:prstGeom prst="roundRect">
            <a:avLst>
              <a:gd name="adj" fmla="val 1837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graphicFrame>
        <p:nvGraphicFramePr>
          <p:cNvPr id="10" name="Chart 0"/>
          <p:cNvGraphicFramePr/>
          <p:nvPr/>
        </p:nvGraphicFramePr>
        <p:xfrm>
          <a:off x="6949440" y="1965960"/>
          <a:ext cx="23774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69494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6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70–90%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464040" y="21488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tempo total de um projeto típico de ciência de dados é gasto entre coleta, entendimento e preparação dos dados.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949440" y="4617720"/>
            <a:ext cx="4434840" cy="0"/>
          </a:xfrm>
          <a:prstGeom prst="line">
            <a:avLst/>
          </a:prstGeom>
          <a:noFill/>
          <a:ln w="12700">
            <a:solidFill>
              <a:srgbClr val="BCD0D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Text 11"/>
          <p:cNvSpPr/>
          <p:nvPr/>
        </p:nvSpPr>
        <p:spPr>
          <a:xfrm>
            <a:off x="6949440" y="475488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ajuda: </a:t>
            </a: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automatizados de coleta e preparação podem reduzir essa fatia para perto de 50% — liberando tempo para a modelagem.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PREPARAÇÃO DOS DADOS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Engenharia de variáveis: criar as colunas que ainda não existem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variável (feature) é uma característica que pode ajudar a resolver o problema. Engenharia de variáveis é usar conhecimento do domínio para construir, a partir dos dados brutos, as características que farão o modelo funcionar.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4572000" cy="2651760"/>
          </a:xfrm>
          <a:prstGeom prst="roundRect">
            <a:avLst>
              <a:gd name="adj" fmla="val 3103"/>
            </a:avLst>
          </a:prstGeom>
          <a:solidFill>
            <a:srgbClr val="10262E"/>
          </a:solidFill>
          <a:ln w="12700">
            <a:solidFill>
              <a:srgbClr val="10262E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502920" cy="502920"/>
          </a:xfrm>
          <a:prstGeom prst="ellipse">
            <a:avLst/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9" name="Image 0" descr="/private/tmp/claude-501/-Users-aldonunes-Cesmac-1-Ciencia-de-Dados-aulas-002/de4d4c8d-184c-48ab-b42d-2bb8962e5f24/scratchpad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87395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79806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dado bruto…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35204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cada acesso ao AVA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cada avaliação de cada disciplina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matrículas e trancamentos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2468880"/>
            <a:ext cx="4572000" cy="2651760"/>
          </a:xfrm>
          <a:prstGeom prst="roundRect">
            <a:avLst>
              <a:gd name="adj" fmla="val 3103"/>
            </a:avLst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Shape 10"/>
          <p:cNvSpPr/>
          <p:nvPr/>
        </p:nvSpPr>
        <p:spPr>
          <a:xfrm>
            <a:off x="6537960" y="2743200"/>
            <a:ext cx="502920" cy="502920"/>
          </a:xfrm>
          <a:prstGeom prst="ellipse">
            <a:avLst/>
          </a:prstGeom>
          <a:solidFill>
            <a:srgbClr val="0A4A57"/>
          </a:solidFill>
          <a:ln w="12700">
            <a:solidFill>
              <a:srgbClr val="0A4A5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4" name="Image 1" descr="/private/tmp/claude-501/-Users-aldonunes-Cesmac-1-Ciencia-de-Dados-aulas-002/de4d4c8d-184c-48ab-b42d-2bb8962e5f24/scratchpad/icons/z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19" y="287395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279806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…para variáveis com significado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83680" y="35204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desde o último acesso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e tendência das notas no semestre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reprovações acumuladas</a:t>
            </a:r>
            <a:endParaRPr lang="en-US" sz="1300" dirty="0"/>
          </a:p>
        </p:txBody>
      </p:sp>
      <p:pic>
        <p:nvPicPr>
          <p:cNvPr id="17" name="Image 2" descr="/private/tmp/claude-501/-Users-aldonunes-Cesmac-1-Ciencia-de-Dados-aulas-002/de4d4c8d-184c-48ab-b42d-2bb8962e5f24/scratchpad/icons/arrowright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520440"/>
            <a:ext cx="566928" cy="56692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02920" y="5440680"/>
            <a:ext cx="11183112" cy="731520"/>
          </a:xfrm>
          <a:prstGeom prst="roundRect">
            <a:avLst>
              <a:gd name="adj" fmla="val 11250"/>
            </a:avLst>
          </a:prstGeom>
          <a:solidFill>
            <a:srgbClr val="F5F9FA"/>
          </a:solidFill>
          <a:ln w="12700">
            <a:solidFill>
              <a:srgbClr val="CFDD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Text 14"/>
          <p:cNvSpPr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também são dados: </a:t>
            </a: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texto (agrupamentos, codificação) garante que informação escondida em campos abertos não passe despercebida.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IBM · READMISSÃO HOSPITALAR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milhares de registros a uma linha por paciente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749040" cy="4343400"/>
          </a:xfrm>
          <a:prstGeom prst="roundRect">
            <a:avLst>
              <a:gd name="adj" fmla="val 2195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E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TRANSACIONAIS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30632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FDD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e internações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86968" y="2852928"/>
            <a:ext cx="30632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FDD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/>
          <p:nvPr/>
        </p:nvSpPr>
        <p:spPr>
          <a:xfrm>
            <a:off x="1024128" y="28529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419856"/>
            <a:ext cx="30632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FDD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11"/>
          <p:cNvSpPr/>
          <p:nvPr/>
        </p:nvSpPr>
        <p:spPr>
          <a:xfrm>
            <a:off x="914400" y="34198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6968" y="3986784"/>
            <a:ext cx="30632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FDD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Text 13"/>
          <p:cNvSpPr/>
          <p:nvPr/>
        </p:nvSpPr>
        <p:spPr>
          <a:xfrm>
            <a:off x="1024128" y="39867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prescrições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553712"/>
            <a:ext cx="30632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FDD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Text 15"/>
          <p:cNvSpPr/>
          <p:nvPr/>
        </p:nvSpPr>
        <p:spPr>
          <a:xfrm>
            <a:off x="914400" y="45537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exames laboratoriais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centenas ou milhares de linhas por paciente</a:t>
            </a:r>
            <a:endParaRPr lang="en-US" sz="1100" dirty="0"/>
          </a:p>
        </p:txBody>
      </p:sp>
      <p:pic>
        <p:nvPicPr>
          <p:cNvPr id="19" name="Image 0" descr="/private/tmp/claude-501/-Users-aldonunes-Cesmac-1-Ciencia-de-Dados-aulas-002/de4d4c8d-184c-48ab-b42d-2bb8962e5f24/scratchpad/icons/arrowright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520440"/>
            <a:ext cx="548640" cy="5486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224528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257800" y="1691640"/>
            <a:ext cx="6428232" cy="2286000"/>
          </a:xfrm>
          <a:prstGeom prst="roundRect">
            <a:avLst>
              <a:gd name="adj" fmla="val 3600"/>
            </a:avLst>
          </a:prstGeom>
          <a:solidFill>
            <a:srgbClr val="10262E"/>
          </a:solidFill>
          <a:ln w="12700">
            <a:solidFill>
              <a:srgbClr val="10262E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Text 19"/>
          <p:cNvSpPr/>
          <p:nvPr/>
        </p:nvSpPr>
        <p:spPr>
          <a:xfrm>
            <a:off x="5532120" y="18745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PACIENTE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532120" y="2286000"/>
            <a:ext cx="905256" cy="457200"/>
          </a:xfrm>
          <a:prstGeom prst="roundRect">
            <a:avLst>
              <a:gd name="adj" fmla="val 18000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Text 21"/>
          <p:cNvSpPr/>
          <p:nvPr/>
        </p:nvSpPr>
        <p:spPr>
          <a:xfrm>
            <a:off x="5532120" y="2286000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532120" y="2798064"/>
            <a:ext cx="905256" cy="457200"/>
          </a:xfrm>
          <a:prstGeom prst="roundRect">
            <a:avLst>
              <a:gd name="adj" fmla="val 18000"/>
            </a:avLst>
          </a:prstGeom>
          <a:solidFill>
            <a:srgbClr val="22434F"/>
          </a:solidFill>
          <a:ln w="12700">
            <a:solidFill>
              <a:srgbClr val="22434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6" name="Text 23"/>
          <p:cNvSpPr/>
          <p:nvPr/>
        </p:nvSpPr>
        <p:spPr>
          <a:xfrm>
            <a:off x="5532120" y="2798064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510528" y="2286000"/>
            <a:ext cx="905256" cy="457200"/>
          </a:xfrm>
          <a:prstGeom prst="roundRect">
            <a:avLst>
              <a:gd name="adj" fmla="val 18000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8" name="Text 25"/>
          <p:cNvSpPr/>
          <p:nvPr/>
        </p:nvSpPr>
        <p:spPr>
          <a:xfrm>
            <a:off x="6510528" y="2286000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510528" y="2798064"/>
            <a:ext cx="905256" cy="457200"/>
          </a:xfrm>
          <a:prstGeom prst="roundRect">
            <a:avLst>
              <a:gd name="adj" fmla="val 18000"/>
            </a:avLst>
          </a:prstGeom>
          <a:solidFill>
            <a:srgbClr val="22434F"/>
          </a:solidFill>
          <a:ln w="12700">
            <a:solidFill>
              <a:srgbClr val="22434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0" name="Text 27"/>
          <p:cNvSpPr/>
          <p:nvPr/>
        </p:nvSpPr>
        <p:spPr>
          <a:xfrm>
            <a:off x="6510528" y="2798064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488936" y="2286000"/>
            <a:ext cx="905256" cy="457200"/>
          </a:xfrm>
          <a:prstGeom prst="roundRect">
            <a:avLst>
              <a:gd name="adj" fmla="val 18000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2" name="Text 29"/>
          <p:cNvSpPr/>
          <p:nvPr/>
        </p:nvSpPr>
        <p:spPr>
          <a:xfrm>
            <a:off x="7488936" y="2286000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visitas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488936" y="2798064"/>
            <a:ext cx="905256" cy="457200"/>
          </a:xfrm>
          <a:prstGeom prst="roundRect">
            <a:avLst>
              <a:gd name="adj" fmla="val 18000"/>
            </a:avLst>
          </a:prstGeom>
          <a:solidFill>
            <a:srgbClr val="22434F"/>
          </a:solidFill>
          <a:ln w="12700">
            <a:solidFill>
              <a:srgbClr val="22434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4" name="Text 31"/>
          <p:cNvSpPr/>
          <p:nvPr/>
        </p:nvSpPr>
        <p:spPr>
          <a:xfrm>
            <a:off x="7488936" y="2798064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467344" y="2286000"/>
            <a:ext cx="905256" cy="457200"/>
          </a:xfrm>
          <a:prstGeom prst="roundRect">
            <a:avLst>
              <a:gd name="adj" fmla="val 18000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6" name="Text 33"/>
          <p:cNvSpPr/>
          <p:nvPr/>
        </p:nvSpPr>
        <p:spPr>
          <a:xfrm>
            <a:off x="8467344" y="2286000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467344" y="2798064"/>
            <a:ext cx="905256" cy="457200"/>
          </a:xfrm>
          <a:prstGeom prst="roundRect">
            <a:avLst>
              <a:gd name="adj" fmla="val 18000"/>
            </a:avLst>
          </a:prstGeom>
          <a:solidFill>
            <a:srgbClr val="22434F"/>
          </a:solidFill>
          <a:ln w="12700">
            <a:solidFill>
              <a:srgbClr val="22434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8" name="Text 35"/>
          <p:cNvSpPr/>
          <p:nvPr/>
        </p:nvSpPr>
        <p:spPr>
          <a:xfrm>
            <a:off x="8467344" y="2798064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9445752" y="2286000"/>
            <a:ext cx="905256" cy="457200"/>
          </a:xfrm>
          <a:prstGeom prst="roundRect">
            <a:avLst>
              <a:gd name="adj" fmla="val 18000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0" name="Text 37"/>
          <p:cNvSpPr/>
          <p:nvPr/>
        </p:nvSpPr>
        <p:spPr>
          <a:xfrm>
            <a:off x="9445752" y="2286000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últ. visita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9445752" y="2798064"/>
            <a:ext cx="905256" cy="457200"/>
          </a:xfrm>
          <a:prstGeom prst="roundRect">
            <a:avLst>
              <a:gd name="adj" fmla="val 18000"/>
            </a:avLst>
          </a:prstGeom>
          <a:solidFill>
            <a:srgbClr val="22434F"/>
          </a:solidFill>
          <a:ln w="12700">
            <a:solidFill>
              <a:srgbClr val="22434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2" name="Text 39"/>
          <p:cNvSpPr/>
          <p:nvPr/>
        </p:nvSpPr>
        <p:spPr>
          <a:xfrm>
            <a:off x="9445752" y="2798064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10424160" y="2286000"/>
            <a:ext cx="905256" cy="457200"/>
          </a:xfrm>
          <a:prstGeom prst="roundRect">
            <a:avLst>
              <a:gd name="adj" fmla="val 18000"/>
            </a:avLst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4" name="Text 41"/>
          <p:cNvSpPr/>
          <p:nvPr/>
        </p:nvSpPr>
        <p:spPr>
          <a:xfrm>
            <a:off x="10424160" y="2286000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readmitiu?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10424160" y="2798064"/>
            <a:ext cx="905256" cy="457200"/>
          </a:xfrm>
          <a:prstGeom prst="roundRect">
            <a:avLst>
              <a:gd name="adj" fmla="val 18000"/>
            </a:avLst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6" name="Text 43"/>
          <p:cNvSpPr/>
          <p:nvPr/>
        </p:nvSpPr>
        <p:spPr>
          <a:xfrm>
            <a:off x="10424160" y="2798064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sim/não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532120" y="3383280"/>
            <a:ext cx="5897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colunas resumem as transações: frequência e recência de visitas, comorbidades (diabetes, hipertensão…), dados demográficos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5257800" y="4206240"/>
            <a:ext cx="2020824" cy="1828800"/>
          </a:xfrm>
          <a:prstGeom prst="roundRect">
            <a:avLst>
              <a:gd name="adj" fmla="val 4500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9" name="Text 46"/>
          <p:cNvSpPr/>
          <p:nvPr/>
        </p:nvSpPr>
        <p:spPr>
          <a:xfrm>
            <a:off x="5422392" y="43708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6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dias</a:t>
            </a:r>
            <a:endParaRPr lang="en-US" sz="2000" dirty="0"/>
          </a:p>
        </p:txBody>
      </p:sp>
      <p:sp>
        <p:nvSpPr>
          <p:cNvPr id="50" name="Text 47"/>
          <p:cNvSpPr/>
          <p:nvPr/>
        </p:nvSpPr>
        <p:spPr>
          <a:xfrm>
            <a:off x="5422392" y="4846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readmissão definida com apoio clínico, após a alta da admissão-índice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7461504" y="4206240"/>
            <a:ext cx="2020824" cy="1828800"/>
          </a:xfrm>
          <a:prstGeom prst="roundRect">
            <a:avLst>
              <a:gd name="adj" fmla="val 4500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2" name="Text 49"/>
          <p:cNvSpPr/>
          <p:nvPr/>
        </p:nvSpPr>
        <p:spPr>
          <a:xfrm>
            <a:off x="7626096" y="43708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6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2.343</a:t>
            </a:r>
            <a:endParaRPr lang="en-US" sz="2000" dirty="0"/>
          </a:p>
        </p:txBody>
      </p:sp>
      <p:sp>
        <p:nvSpPr>
          <p:cNvPr id="53" name="Text 50"/>
          <p:cNvSpPr/>
          <p:nvPr/>
        </p:nvSpPr>
        <p:spPr>
          <a:xfrm>
            <a:off x="7626096" y="4846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corte final, após aplicar todos os critérios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9665208" y="4206240"/>
            <a:ext cx="2020824" cy="1828800"/>
          </a:xfrm>
          <a:prstGeom prst="roundRect">
            <a:avLst>
              <a:gd name="adj" fmla="val 4500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5" name="Text 52"/>
          <p:cNvSpPr/>
          <p:nvPr/>
        </p:nvSpPr>
        <p:spPr>
          <a:xfrm>
            <a:off x="9829800" y="43708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6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treino + teste</a:t>
            </a:r>
            <a:endParaRPr lang="en-US" sz="2000" dirty="0"/>
          </a:p>
        </p:txBody>
      </p:sp>
      <p:sp>
        <p:nvSpPr>
          <p:cNvPr id="56" name="Text 53"/>
          <p:cNvSpPr/>
          <p:nvPr/>
        </p:nvSpPr>
        <p:spPr>
          <a:xfrm>
            <a:off x="9829800" y="4846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corte </a:t>
            </a:r>
            <a:r>
              <a:rPr lang="en-US" sz="1050" dirty="0" err="1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</a:t>
            </a: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dividido</a:t>
            </a: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construir e depois validar o modelo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CONCEITO-CHAVE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Granularidade: o que é “uma linha” da sua base?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8778240" cy="676656"/>
          </a:xfrm>
          <a:prstGeom prst="roundRect">
            <a:avLst>
              <a:gd name="adj" fmla="val 12162"/>
            </a:avLst>
          </a:prstGeom>
          <a:solidFill>
            <a:srgbClr val="D7E6EA"/>
          </a:solidFill>
          <a:ln w="12700">
            <a:solidFill>
              <a:srgbClr val="D7E6E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acesso   </a:t>
            </a: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clique no AVA é um registro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523744"/>
            <a:ext cx="7589520" cy="676656"/>
          </a:xfrm>
          <a:prstGeom prst="roundRect">
            <a:avLst>
              <a:gd name="adj" fmla="val 12162"/>
            </a:avLst>
          </a:prstGeom>
          <a:solidFill>
            <a:srgbClr val="BCD6DC"/>
          </a:solidFill>
          <a:ln w="12700">
            <a:solidFill>
              <a:srgbClr val="BCD6DC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/>
          <p:nvPr/>
        </p:nvSpPr>
        <p:spPr>
          <a:xfrm>
            <a:off x="822960" y="2523744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avaliação   </a:t>
            </a: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nota de cada prova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310128"/>
            <a:ext cx="6400800" cy="676656"/>
          </a:xfrm>
          <a:prstGeom prst="roundRect">
            <a:avLst>
              <a:gd name="adj" fmla="val 12162"/>
            </a:avLst>
          </a:prstGeom>
          <a:solidFill>
            <a:srgbClr val="8FBAC4"/>
          </a:solidFill>
          <a:ln w="12700">
            <a:solidFill>
              <a:srgbClr val="8FBAC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/>
          <p:nvPr/>
        </p:nvSpPr>
        <p:spPr>
          <a:xfrm>
            <a:off x="822960" y="3310128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disciplina   </a:t>
            </a: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resumido em cada matéria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096512"/>
            <a:ext cx="5212080" cy="676656"/>
          </a:xfrm>
          <a:prstGeom prst="roundRect">
            <a:avLst>
              <a:gd name="adj" fmla="val 12162"/>
            </a:avLst>
          </a:prstGeom>
          <a:solidFill>
            <a:srgbClr val="4E93A0"/>
          </a:solidFill>
          <a:ln w="12700">
            <a:solidFill>
              <a:srgbClr val="4E93A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11"/>
          <p:cNvSpPr/>
          <p:nvPr/>
        </p:nvSpPr>
        <p:spPr>
          <a:xfrm>
            <a:off x="822960" y="4096512"/>
            <a:ext cx="4663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matrícula   </a:t>
            </a:r>
            <a:r>
              <a:rPr lang="en-US" sz="1200" dirty="0">
                <a:solidFill>
                  <a:srgbClr val="D3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vínculo do aluno em cada semestre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882896"/>
            <a:ext cx="4023360" cy="676656"/>
          </a:xfrm>
          <a:prstGeom prst="roundRect">
            <a:avLst>
              <a:gd name="adj" fmla="val 12162"/>
            </a:avLst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Text 13"/>
          <p:cNvSpPr/>
          <p:nvPr/>
        </p:nvSpPr>
        <p:spPr>
          <a:xfrm>
            <a:off x="822960" y="4882896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aluno   </a:t>
            </a:r>
            <a:r>
              <a:rPr lang="en-US" sz="1200" dirty="0">
                <a:solidFill>
                  <a:srgbClr val="D3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histórico condensado em um registro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8408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fino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(mais linhas)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0" y="4754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E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agregado</a:t>
            </a:r>
            <a:endParaRPr lang="en-US" sz="1100" dirty="0"/>
          </a:p>
          <a:p>
            <a:pPr marL="0" indent="0">
              <a:buNone/>
            </a:pPr>
            <a:r>
              <a:rPr lang="en-US" sz="1100" b="1" i="1" dirty="0">
                <a:solidFill>
                  <a:srgbClr val="0E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(uma linha por aluno)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921240" y="2468880"/>
            <a:ext cx="0" cy="2148840"/>
          </a:xfrm>
          <a:prstGeom prst="line">
            <a:avLst/>
          </a:prstGeom>
          <a:noFill/>
          <a:ln w="19050">
            <a:solidFill>
              <a:srgbClr val="CFDDE1"/>
            </a:solidFill>
            <a:prstDash val="solid"/>
            <a:tailEnd type="triangle"/>
          </a:ln>
        </p:spPr>
        <p:txBody>
          <a:bodyPr/>
          <a:lstStyle/>
          <a:p>
            <a:endParaRPr lang="en-BR"/>
          </a:p>
        </p:txBody>
      </p:sp>
      <p:sp>
        <p:nvSpPr>
          <p:cNvPr id="19" name="Shape 17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FCEBCF"/>
          </a:solidFill>
          <a:ln w="12700">
            <a:solidFill>
              <a:srgbClr val="FCEBC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unidade de análise deve ser compatível com a pergunta: para prever risco por aluno, a base precisa ter uma linha por aluno.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TRAZENDO PARA A NOSSA REALIDADE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Montando a “linha do aluno”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1790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Centenas de presenças, notas e acessos ao AVA precisam virar um único registro por aluno. Algumas variáveis que poderíamos construir: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3602736" cy="1600200"/>
          </a:xfrm>
          <a:prstGeom prst="roundRect">
            <a:avLst>
              <a:gd name="adj" fmla="val 5143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722376" y="250545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9" name="Image 0" descr="/private/tmp/claude-501/-Users-aldonunes-Cesmac-1-Ciencia-de-Dados-aulas-002/de4d4c8d-184c-48ab-b42d-2bb8962e5f24/scratchpad/icons/calendar_pe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24328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542032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média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58952" y="315468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presenças ÷ encontros, no semestre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88536" y="2286000"/>
            <a:ext cx="3602736" cy="1600200"/>
          </a:xfrm>
          <a:prstGeom prst="roundRect">
            <a:avLst>
              <a:gd name="adj" fmla="val 5143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Shape 10"/>
          <p:cNvSpPr/>
          <p:nvPr/>
        </p:nvSpPr>
        <p:spPr>
          <a:xfrm>
            <a:off x="4507992" y="250545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4" name="Image 1" descr="/private/tmp/claude-501/-Users-aldonunes-Cesmac-1-Ciencia-de-Dados-aulas-002/de4d4c8d-184c-48ab-b42d-2bb8962e5f24/scratchpad/icons/x_petr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624328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11496" y="2542032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Reprovações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544568" y="315468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acumulada até aqui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74152" y="2286000"/>
            <a:ext cx="3602736" cy="1600200"/>
          </a:xfrm>
          <a:prstGeom prst="roundRect">
            <a:avLst>
              <a:gd name="adj" fmla="val 5143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Shape 14"/>
          <p:cNvSpPr/>
          <p:nvPr/>
        </p:nvSpPr>
        <p:spPr>
          <a:xfrm>
            <a:off x="8293608" y="250545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9" name="Image 2" descr="/private/tmp/claude-501/-Users-aldonunes-Cesmac-1-Ciencia-de-Dados-aulas-002/de4d4c8d-184c-48ab-b42d-2bb8962e5f24/scratchpad/icons/trending_petr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624328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97112" y="2542032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das notas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330184" y="315468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e tendência recente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2920" y="4114800"/>
            <a:ext cx="3602736" cy="1600200"/>
          </a:xfrm>
          <a:prstGeom prst="roundRect">
            <a:avLst>
              <a:gd name="adj" fmla="val 5143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Shape 18"/>
          <p:cNvSpPr/>
          <p:nvPr/>
        </p:nvSpPr>
        <p:spPr>
          <a:xfrm>
            <a:off x="722376" y="433425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4" name="Image 3" descr="/private/tmp/claude-501/-Users-aldonunes-Cesmac-1-Ciencia-de-Dados-aulas-002/de4d4c8d-184c-48ab-b42d-2bb8962e5f24/scratchpad/icons/clock_petr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453128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370832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sem acessar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58952" y="498348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desde o último login no AVA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288536" y="4114800"/>
            <a:ext cx="3602736" cy="1600200"/>
          </a:xfrm>
          <a:prstGeom prst="roundRect">
            <a:avLst>
              <a:gd name="adj" fmla="val 5143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8" name="Shape 22"/>
          <p:cNvSpPr/>
          <p:nvPr/>
        </p:nvSpPr>
        <p:spPr>
          <a:xfrm>
            <a:off x="4507992" y="433425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9" name="Image 4" descr="/private/tmp/claude-501/-Users-aldonunes-Cesmac-1-Ciencia-de-Dados-aulas-002/de4d4c8d-184c-48ab-b42d-2bb8962e5f24/scratchpad/icons/book_petro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864" y="4453128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11496" y="4370832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Disciplinas abandonadas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4544568" y="498348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que não chegaram ao fim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074152" y="4114800"/>
            <a:ext cx="3602736" cy="1600200"/>
          </a:xfrm>
          <a:prstGeom prst="roundRect">
            <a:avLst>
              <a:gd name="adj" fmla="val 5143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3" name="Shape 26"/>
          <p:cNvSpPr/>
          <p:nvPr/>
        </p:nvSpPr>
        <p:spPr>
          <a:xfrm>
            <a:off x="8293608" y="433425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34" name="Image 5" descr="/private/tmp/claude-501/-Users-aldonunes-Cesmac-1-Ciencia-de-Dados-aulas-002/de4d4c8d-184c-48ab-b42d-2bb8962e5f24/scratchpad/icons/users_petro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4453128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897112" y="4370832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em grupo</a:t>
            </a:r>
            <a:endParaRPr lang="en-US" sz="1450" dirty="0"/>
          </a:p>
        </p:txBody>
      </p:sp>
      <p:sp>
        <p:nvSpPr>
          <p:cNvPr id="36" name="Text 28"/>
          <p:cNvSpPr/>
          <p:nvPr/>
        </p:nvSpPr>
        <p:spPr>
          <a:xfrm>
            <a:off x="8330184" y="498348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em fóruns e trabalhos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502920" y="61081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card é uma decisão de engenharia de variáveis — e cada um pode ser calculado a partir dos registros brutos que a instituição já tem.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224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3520440" y="1783080"/>
            <a:ext cx="777240" cy="777240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6" name="Image 0" descr="/private/tmp/claude-501/-Users-aldonunes-Cesmac-1-Ciencia-de-Dados-aulas-002/de4d4c8d-184c-48ab-b42d-2bb8962e5f24/scratchpad/icons/cp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522" y="19851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26280" y="1783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07992" y="20848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Modelagem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526280" y="3017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FAA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desta etapa:  </a:t>
            </a:r>
            <a:r>
              <a:rPr lang="en-US" sz="1700" i="1" dirty="0">
                <a:solidFill>
                  <a:srgbClr val="FCEB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“Que representação dos padrões nos dados responde à nossa pergunta?”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2920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8"/>
          <p:cNvSpPr/>
          <p:nvPr/>
        </p:nvSpPr>
        <p:spPr>
          <a:xfrm>
            <a:off x="502920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388108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10"/>
          <p:cNvSpPr/>
          <p:nvPr/>
        </p:nvSpPr>
        <p:spPr>
          <a:xfrm>
            <a:off x="2388108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73296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Text 12"/>
          <p:cNvSpPr/>
          <p:nvPr/>
        </p:nvSpPr>
        <p:spPr>
          <a:xfrm>
            <a:off x="4273296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58484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Text 14"/>
          <p:cNvSpPr/>
          <p:nvPr/>
        </p:nvSpPr>
        <p:spPr>
          <a:xfrm>
            <a:off x="6158484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43672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Text 16"/>
          <p:cNvSpPr/>
          <p:nvPr/>
        </p:nvSpPr>
        <p:spPr>
          <a:xfrm>
            <a:off x="8043672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928860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Text 18"/>
          <p:cNvSpPr/>
          <p:nvPr/>
        </p:nvSpPr>
        <p:spPr>
          <a:xfrm>
            <a:off x="9928860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MODELAGEM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uma representação dos padrões dos dados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5404104" cy="1645920"/>
          </a:xfrm>
          <a:prstGeom prst="roundRect">
            <a:avLst>
              <a:gd name="adj" fmla="val 5000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8" name="Image 0" descr="/private/tmp/claude-501/-Users-aldonunes-Cesmac-1-Ciencia-de-Dados-aulas-002/de4d4c8d-184c-48ab-b42d-2bb8962e5f24/scratchpad/icons/eye_pe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00527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9019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descritivos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22960" y="23957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revelam relações e perfis: “quem faz X tende a preferir Y”. Explicam o presente.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81928" y="1600200"/>
            <a:ext cx="5404104" cy="1645920"/>
          </a:xfrm>
          <a:prstGeom prst="roundRect">
            <a:avLst>
              <a:gd name="adj" fmla="val 5000"/>
            </a:avLst>
          </a:prstGeom>
          <a:solidFill>
            <a:srgbClr val="10262E"/>
          </a:solidFill>
          <a:ln w="12700">
            <a:solidFill>
              <a:srgbClr val="10262E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Shape 9"/>
          <p:cNvSpPr/>
          <p:nvPr/>
        </p:nvSpPr>
        <p:spPr>
          <a:xfrm>
            <a:off x="6556248" y="1874520"/>
            <a:ext cx="502920" cy="502920"/>
          </a:xfrm>
          <a:prstGeom prst="ellipse">
            <a:avLst/>
          </a:prstGeom>
          <a:solidFill>
            <a:srgbClr val="1A3641"/>
          </a:solidFill>
          <a:ln w="12700">
            <a:solidFill>
              <a:srgbClr val="1A364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3" name="Image 1" descr="/private/tmp/claude-501/-Users-aldonunes-Cesmac-1-Ciencia-de-Dados-aulas-002/de4d4c8d-184c-48ab-b42d-2bb8962e5f24/scratchpad/icons/tren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007" y="200527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42048" y="19019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preditivos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601968" y="23957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antecipam um resultado: sim/não, fica/evade, valor futuro. Apostam no que vem.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0292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processo, em cinco movimentos: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02920" y="393192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os dados em treino e teste — o treino tem os resultados já conhecidos e serve de gabarito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variáveis e uma técnica coerente com a abordagem analítica definida lá atrás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e comparar alternativas — experimentar algoritmos e combinações faz parte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parâmetros e refinar, atentos ao risco de decorar o passado (overfitting)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Iterar: voltar à preparação para redefinir variáveis é rotina, não retrocesso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IBM · READMISSÃO HOSPITALAR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tentativas, um equilíbrio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645920"/>
          <a:ext cx="61264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1783080"/>
            <a:ext cx="4828032" cy="1298448"/>
          </a:xfrm>
          <a:prstGeom prst="roundRect">
            <a:avLst>
              <a:gd name="adj" fmla="val 6338"/>
            </a:avLst>
          </a:prstGeom>
          <a:solidFill>
            <a:srgbClr val="F5F9FA"/>
          </a:solidFill>
          <a:ln w="12700">
            <a:solidFill>
              <a:srgbClr val="CFDD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8" name="Image 0" descr="/private/tmp/claude-501/-Users-aldonunes-Cesmac-1-Ciencia-de-Dados-aulas-002/de4d4c8d-184c-48ab-b42d-2bb8962e5f24/scratchpad/icons/alert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16712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26680" y="1892808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1 : 1
</a:t>
            </a: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de acurácia parecia ótimo — mas o modelo só enxergava 45% das readmissões reais.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858000" y="3227832"/>
            <a:ext cx="4828032" cy="1298448"/>
          </a:xfrm>
          <a:prstGeom prst="roundRect">
            <a:avLst>
              <a:gd name="adj" fmla="val 6338"/>
            </a:avLst>
          </a:prstGeom>
          <a:solidFill>
            <a:srgbClr val="F5F9FA"/>
          </a:solidFill>
          <a:ln w="12700">
            <a:solidFill>
              <a:srgbClr val="CFDD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1" name="Image 1" descr="/private/tmp/claude-501/-Users-aldonunes-Cesmac-1-Ciencia-de-Dados-aulas-002/de4d4c8d-184c-48ab-b42d-2bb8962e5f24/scratchpad/icons/alert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36118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26680" y="333756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9 : 1
</a:t>
            </a: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97% das readmissões, mas dispara falso alarme para quase todo mundo: acurácia despenca para 49%.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858000" y="4672584"/>
            <a:ext cx="4828032" cy="1298448"/>
          </a:xfrm>
          <a:prstGeom prst="roundRect">
            <a:avLst>
              <a:gd name="adj" fmla="val 6338"/>
            </a:avLst>
          </a:prstGeom>
          <a:solidFill>
            <a:srgbClr val="F5F9FA"/>
          </a:solidFill>
          <a:ln w="12700">
            <a:solidFill>
              <a:srgbClr val="CFDD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4" name="Image 2" descr="/private/tmp/claude-501/-Users-aldonunes-Cesmac-1-Ciencia-de-Dados-aulas-002/de4d4c8d-184c-48ab-b42d-2bb8962e5f24/scratchpad/icons/chec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5056632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26680" y="478231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4 : 1
</a:t>
            </a: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equilíbrio possível: 68% de sensibilidade, 85% de especificidade, 81% de acurácia global.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858000" y="6126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árvore de decisão · parâmetro ajustado: custo relativo de errar um “sim” vs. um “não”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MODELAGEM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todo erro custa o mesmo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5404104" cy="2834640"/>
          </a:xfrm>
          <a:prstGeom prst="roundRect">
            <a:avLst>
              <a:gd name="adj" fmla="val 2903"/>
            </a:avLst>
          </a:prstGeom>
          <a:solidFill>
            <a:srgbClr val="FCEBCF"/>
          </a:solidFill>
          <a:ln w="12700">
            <a:solidFill>
              <a:srgbClr val="FCEBC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79552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8" name="Image 0" descr="/private/tmp/claude-501/-Users-aldonunes-Cesmac-1-Ciencia-de-Dados-aulas-002/de4d4c8d-184c-48ab-b42d-2bb8962e5f24/scratchpad/icons/alert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206288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positivo  ·  erro tipo 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2104" y="2697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aponta risco para um paciente que não seria readmitido.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32104" y="3429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uma intervenção desperdiçada — tempo e dinheiro aplicados sem necessidade.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81928" y="1645920"/>
            <a:ext cx="5404104" cy="2834640"/>
          </a:xfrm>
          <a:prstGeom prst="roundRect">
            <a:avLst>
              <a:gd name="adj" fmla="val 2903"/>
            </a:avLst>
          </a:prstGeom>
          <a:solidFill>
            <a:srgbClr val="F6E3E1"/>
          </a:solidFill>
          <a:ln w="12700">
            <a:solidFill>
              <a:srgbClr val="F6E3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Shape 10"/>
          <p:cNvSpPr/>
          <p:nvPr/>
        </p:nvSpPr>
        <p:spPr>
          <a:xfrm>
            <a:off x="6574536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4" name="Image 1" descr="/private/tmp/claude-501/-Users-aldonunes-Cesmac-1-Ciencia-de-Dados-aulas-002/de4d4c8d-184c-48ab-b42d-2bb8962e5f24/scratchpad/icons/x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182" y="206288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06056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negativo  ·  erro tipo II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611112" y="2697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ignora um paciente que será readmitido.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611112" y="3429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a readmissão acontece, com todos os custos — e o trauma — que o projeto queria evitar.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02920" y="484632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10262E"/>
          </a:solidFill>
          <a:ln w="12700">
            <a:solidFill>
              <a:srgbClr val="10262E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Text 15"/>
          <p:cNvSpPr/>
          <p:nvPr/>
        </p:nvSpPr>
        <p:spPr>
          <a:xfrm>
            <a:off x="868680" y="4983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erros custam diferente, o modelo precisa saber disso. </a:t>
            </a:r>
            <a:r>
              <a:rPr lang="en-US" sz="135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exatamente o que o ajuste de custo 4 : 1 fez no caso da IBM. Na evasão: alertar um aluno que ficaria custa uma conversa; perder um aluno que evadiu custa a trajetória dele.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dirty="0">
                <a:solidFill>
                  <a:srgbClr val="0E6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554480" y="196596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Modelagem não é o começo do projeto.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uma etapa sustentada por todas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anteriores.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54480" y="434340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problema foi mal definido, a abordagem mal escolhida ou os dados mal preparados,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algoritmo salva o resultado. 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224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3520440" y="1783080"/>
            <a:ext cx="777240" cy="777240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6" name="Image 0" descr="/private/tmp/claude-501/-Users-aldonunes-Cesmac-1-Ciencia-de-Dados-aulas-002/de4d4c8d-184c-48ab-b42d-2bb8962e5f24/scratchpad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522" y="19851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26280" y="1783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07992" y="20848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526280" y="3017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FAA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desta etapa:  </a:t>
            </a:r>
            <a:r>
              <a:rPr lang="en-US" sz="1700" i="1" dirty="0">
                <a:solidFill>
                  <a:srgbClr val="FCEB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modelo realmente responde à pergunta inicial — ou precisa de ajustes?”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2920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8"/>
          <p:cNvSpPr/>
          <p:nvPr/>
        </p:nvSpPr>
        <p:spPr>
          <a:xfrm>
            <a:off x="502920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388108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10"/>
          <p:cNvSpPr/>
          <p:nvPr/>
        </p:nvSpPr>
        <p:spPr>
          <a:xfrm>
            <a:off x="2388108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73296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Text 12"/>
          <p:cNvSpPr/>
          <p:nvPr/>
        </p:nvSpPr>
        <p:spPr>
          <a:xfrm>
            <a:off x="4273296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58484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Text 14"/>
          <p:cNvSpPr/>
          <p:nvPr/>
        </p:nvSpPr>
        <p:spPr>
          <a:xfrm>
            <a:off x="6158484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43672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Text 16"/>
          <p:cNvSpPr/>
          <p:nvPr/>
        </p:nvSpPr>
        <p:spPr>
          <a:xfrm>
            <a:off x="8043672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928860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Text 18"/>
          <p:cNvSpPr/>
          <p:nvPr/>
        </p:nvSpPr>
        <p:spPr>
          <a:xfrm>
            <a:off x="9928860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· AVALIAÇÃO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anda de mãos dadas com modelar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acontece durante o desenvolvimento, antes da implantação — e em ciclo com a modelagem: ajusta-se, mede-se, ajusta-se de novo. Ela costuma ter duas fases: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5404104" cy="3749040"/>
          </a:xfrm>
          <a:prstGeom prst="roundRect">
            <a:avLst>
              <a:gd name="adj" fmla="val 2195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475488" cy="475488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606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diagnósticas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se comporta como planejado?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3703320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preditivo: comparar previsões com resultados conhecidos do conjunto de teste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descritivo: verificar as relações encontradas contra dados com desfecho conhecido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onde o modelo erra e o que ajustar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81928" y="2331720"/>
            <a:ext cx="5404104" cy="3749040"/>
          </a:xfrm>
          <a:prstGeom prst="roundRect">
            <a:avLst>
              <a:gd name="adj" fmla="val 2195"/>
            </a:avLst>
          </a:prstGeom>
          <a:solidFill>
            <a:srgbClr val="F5F9FA"/>
          </a:solidFill>
          <a:ln w="12700">
            <a:solidFill>
              <a:srgbClr val="CFDD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Shape 12"/>
          <p:cNvSpPr/>
          <p:nvPr/>
        </p:nvSpPr>
        <p:spPr>
          <a:xfrm>
            <a:off x="6556248" y="2606040"/>
            <a:ext cx="475488" cy="475488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Text 13"/>
          <p:cNvSpPr/>
          <p:nvPr/>
        </p:nvSpPr>
        <p:spPr>
          <a:xfrm>
            <a:off x="6556248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96328" y="2606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Significância estatística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74536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resultados se sustentam?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74536" y="3703320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Checar se os padrões encontrados não são obra do acaso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os dados foram tratados e interpretados corretamente dentro do modelo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a dúvida de última hora na apresentação dos resultados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IBM · READMISSÃO HOSPITALAR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Escolhendo o melhor modelo: a curva ROC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691640"/>
          <a:ext cx="60350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858000" y="18288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ROC mostra, para cada regulagem do modelo, o acerto nos “sim” contra a taxa de falso alarme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a curva se descola da diagonal do chute aleatório, melhor o modelo distingue os dois grupos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caso da IBM, quatro modelos foram comparados — venceu o de custo 4 : 1, com a maior separação da linha de base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0" y="4892040"/>
            <a:ext cx="4828032" cy="1143000"/>
          </a:xfrm>
          <a:prstGeom prst="roundRect">
            <a:avLst>
              <a:gd name="adj" fmla="val 7200"/>
            </a:avLst>
          </a:prstGeom>
          <a:solidFill>
            <a:srgbClr val="F5F9FA"/>
          </a:solidFill>
          <a:ln w="12700">
            <a:solidFill>
              <a:srgbClr val="CFDD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Text 6"/>
          <p:cNvSpPr/>
          <p:nvPr/>
        </p:nvSpPr>
        <p:spPr>
          <a:xfrm>
            <a:off x="7132320" y="498348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Curiosidade: </a:t>
            </a: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ROC (receiver operating characteristic) nasceu na 2ª Guerra Mundial, para separar aviões inimigos de ruído no radar — hoje é padrão em machine learning.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5897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ilustrativa, para leitura do conceito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· AVALIAÇÃO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réguas diferentes — e as duas precisam aprovar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5404104" cy="4160520"/>
          </a:xfrm>
          <a:prstGeom prst="roundRect">
            <a:avLst>
              <a:gd name="adj" fmla="val 1978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8" name="Image 0" descr="/private/tmp/claude-501/-Users-aldonunes-Cesmac-1-Ciencia-de-Dados-aulas-002/de4d4c8d-184c-48ab-b42d-2bb8962e5f24/scratchpad/icons/sliders_pe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06288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88366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técnica
</a:t>
            </a: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funciona?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28346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acerta? Qual é o erro?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 para dados que nunca viu?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sinais de overfitting?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desempenho é estável entre grupos e períodos?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81928" y="1645920"/>
            <a:ext cx="5404104" cy="4160520"/>
          </a:xfrm>
          <a:prstGeom prst="roundRect">
            <a:avLst>
              <a:gd name="adj" fmla="val 1978"/>
            </a:avLst>
          </a:prstGeom>
          <a:solidFill>
            <a:srgbClr val="FCEBCF"/>
          </a:solidFill>
          <a:ln w="12700">
            <a:solidFill>
              <a:srgbClr val="FCEBC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Shape 9"/>
          <p:cNvSpPr/>
          <p:nvPr/>
        </p:nvSpPr>
        <p:spPr>
          <a:xfrm>
            <a:off x="655624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3" name="Image 1" descr="/private/tmp/claude-501/-Users-aldonunes-Cesmac-1-Ciencia-de-Dados-aulas-002/de4d4c8d-184c-48ab-b42d-2bb8962e5f24/scratchpad/icons/compass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894" y="206288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87768" y="188366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do problema
</a:t>
            </a: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serve?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601968" y="28346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à pergunta feita lá no início?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útil para quem toma a decisão?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com antecedência suficiente para agir?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compreensível? Gera benefício real?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pode passar com louvor na primeira régua e reprovar na segunda — o próximo slide mostra como.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TRAZENDO PARA A NOSSA REALIDADE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 boa ≠ solução boa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5404104" cy="3520440"/>
          </a:xfrm>
          <a:prstGeom prst="roundRect">
            <a:avLst>
              <a:gd name="adj" fmla="val 2338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8" name="Image 0" descr="/private/tmp/claude-501/-Users-aldonunes-Cesmac-1-Ciencia-de-Dados-aulas-002/de4d4c8d-184c-48ab-b42d-2bb8962e5f24/scratchpad/icons/chart_pe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06288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9568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“95% de acurácia!”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26974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só 5 em cada 100 alunos evadem, um modelo que responde “ninguém evade” acerta 95% — e é perfeitamente inútil: não identifica um único aluno em risco.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4343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a métrica ignora o desbalanceamento entre as classes.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81928" y="1645920"/>
            <a:ext cx="5404104" cy="3520440"/>
          </a:xfrm>
          <a:prstGeom prst="roundRect">
            <a:avLst>
              <a:gd name="adj" fmla="val 2338"/>
            </a:avLst>
          </a:prstGeom>
          <a:solidFill>
            <a:srgbClr val="F5F9FA"/>
          </a:solidFill>
          <a:ln w="12700">
            <a:solidFill>
              <a:srgbClr val="CFDD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Shape 10"/>
          <p:cNvSpPr/>
          <p:nvPr/>
        </p:nvSpPr>
        <p:spPr>
          <a:xfrm>
            <a:off x="655624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4" name="Image 1" descr="/private/tmp/claude-501/-Users-aldonunes-Cesmac-1-Ciencia-de-Dados-aulas-002/de4d4c8d-184c-48ab-b42d-2bb8962e5f24/scratchpad/icons/clock_petr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894" y="206288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87768" y="19568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</a:t>
            </a:r>
            <a:r>
              <a:rPr lang="en-US" sz="1900" b="1" dirty="0" err="1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</a:t>
            </a:r>
            <a:r>
              <a:rPr lang="en-US" sz="19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900" b="1" dirty="0" err="1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</a:t>
            </a:r>
            <a:r>
              <a:rPr lang="en-US" sz="19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900" b="1" dirty="0" err="1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</a:t>
            </a:r>
            <a:r>
              <a:rPr lang="en-US" sz="19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!”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601968" y="26974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identifica bem quem evade — mas só dispara quando o aluno já parou de frequentar há meses. A previsão chega depois da decisão que queríamos influenciar.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601968" y="4343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sem antecedência, não há tempo hábil para intervir.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" y="544068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10262E"/>
          </a:solidFill>
          <a:ln w="12700">
            <a:solidFill>
              <a:srgbClr val="10262E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Text 15"/>
          <p:cNvSpPr/>
          <p:nvPr/>
        </p:nvSpPr>
        <p:spPr>
          <a:xfrm>
            <a:off x="868680" y="54406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3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técnico parecia razoável — e a solução não atendia ao objetivo. As duas réguas, sempre.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224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3520440" y="1783080"/>
            <a:ext cx="777240" cy="777240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6" name="Image 0" descr="/private/tmp/claude-501/-Users-aldonunes-Cesmac-1-Ciencia-de-Dados-aulas-002/de4d4c8d-184c-48ab-b42d-2bb8962e5f24/scratchpad/icons/sen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522" y="19851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26280" y="1783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07992" y="20848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Implantação &amp; Feedback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526280" y="3017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FAA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desta etapa:  </a:t>
            </a:r>
            <a:r>
              <a:rPr lang="en-US" sz="1700" i="1" dirty="0">
                <a:solidFill>
                  <a:srgbClr val="FCEB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“Como colocar a resposta em uso — e como mantê-la útil com o tempo?”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2920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8"/>
          <p:cNvSpPr/>
          <p:nvPr/>
        </p:nvSpPr>
        <p:spPr>
          <a:xfrm>
            <a:off x="502920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388108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10"/>
          <p:cNvSpPr/>
          <p:nvPr/>
        </p:nvSpPr>
        <p:spPr>
          <a:xfrm>
            <a:off x="2388108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73296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Text 12"/>
          <p:cNvSpPr/>
          <p:nvPr/>
        </p:nvSpPr>
        <p:spPr>
          <a:xfrm>
            <a:off x="4273296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58484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Text 14"/>
          <p:cNvSpPr/>
          <p:nvPr/>
        </p:nvSpPr>
        <p:spPr>
          <a:xfrm>
            <a:off x="6158484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43672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Text 16"/>
          <p:cNvSpPr/>
          <p:nvPr/>
        </p:nvSpPr>
        <p:spPr>
          <a:xfrm>
            <a:off x="8043672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928860" y="5120640"/>
            <a:ext cx="1757172" cy="475488"/>
          </a:xfrm>
          <a:prstGeom prst="roundRect">
            <a:avLst>
              <a:gd name="adj" fmla="val 50000"/>
            </a:avLst>
          </a:prstGeom>
          <a:solidFill>
            <a:srgbClr val="1A3641"/>
          </a:solidFill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Text 18"/>
          <p:cNvSpPr/>
          <p:nvPr/>
        </p:nvSpPr>
        <p:spPr>
          <a:xfrm>
            <a:off x="9928860" y="5120640"/>
            <a:ext cx="17571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 · IMPLANTAÇÃO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Implantar não é só publicar um código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precisa chegar a quem decide, no formato em que consegue usar: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438912" cy="438912"/>
          </a:xfrm>
          <a:prstGeom prst="ellipse">
            <a:avLst/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8" name="Image 0" descr="/private/tmp/claude-501/-Users-aldonunes-Cesmac-1-Ciencia-de-Dados-aulas-002/de4d4c8d-184c-48ab-b42d-2bb8962e5f24/scratchpad/icons/monitor_pe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37" y="2217237"/>
            <a:ext cx="210678" cy="2106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08483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embutida num sistema  </a:t>
            </a: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risco aparece na tela que o usuário já usa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889504"/>
            <a:ext cx="438912" cy="438912"/>
          </a:xfrm>
          <a:prstGeom prst="ellipse">
            <a:avLst/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1" name="Image 1" descr="/private/tmp/claude-501/-Users-aldonunes-Cesmac-1-Ciencia-de-Dados-aulas-002/de4d4c8d-184c-48ab-b42d-2bb8962e5f24/scratchpad/icons/file_petr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37" y="3003621"/>
            <a:ext cx="210678" cy="2106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87121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periódico  </a:t>
            </a: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síntese que chega a cada semana ou mês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3675888"/>
            <a:ext cx="438912" cy="438912"/>
          </a:xfrm>
          <a:prstGeom prst="ellipse">
            <a:avLst/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4" name="Image 2" descr="/private/tmp/claude-501/-Users-aldonunes-Cesmac-1-Ciencia-de-Dados-aulas-002/de4d4c8d-184c-48ab-b42d-2bb8962e5f24/scratchpad/icons/grid_petr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37" y="3790005"/>
            <a:ext cx="210678" cy="21067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65760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interativo  </a:t>
            </a: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exploração livre para gestores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4462272"/>
            <a:ext cx="438912" cy="438912"/>
          </a:xfrm>
          <a:prstGeom prst="ellipse">
            <a:avLst/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7" name="Image 3" descr="/private/tmp/claude-501/-Users-aldonunes-Cesmac-1-Ciencia-de-Dados-aulas-002/de4d4c8d-184c-48ab-b42d-2bb8962e5f24/scratchpad/icons/bell_petr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037" y="4576389"/>
            <a:ext cx="210678" cy="2106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4443984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  </a:t>
            </a: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aviso quando um caso cruza o limiar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02920" y="5248656"/>
            <a:ext cx="438912" cy="438912"/>
          </a:xfrm>
          <a:prstGeom prst="ellipse">
            <a:avLst/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0" name="Image 4" descr="/private/tmp/claude-501/-Users-aldonunes-Cesmac-1-Ciencia-de-Dados-aulas-002/de4d4c8d-184c-48ab-b42d-2bb8962e5f24/scratchpad/icons/users_petro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37" y="5362773"/>
            <a:ext cx="210678" cy="21067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" y="523036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de decisão  </a:t>
            </a: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análise vira etapa de um processo existente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6720840" y="1554480"/>
            <a:ext cx="4965192" cy="4526280"/>
          </a:xfrm>
          <a:prstGeom prst="roundRect">
            <a:avLst>
              <a:gd name="adj" fmla="val 1818"/>
            </a:avLst>
          </a:prstGeom>
          <a:solidFill>
            <a:srgbClr val="10262E"/>
          </a:solidFill>
          <a:ln w="12700">
            <a:solidFill>
              <a:srgbClr val="10262E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Text 16"/>
          <p:cNvSpPr/>
          <p:nvPr/>
        </p:nvSpPr>
        <p:spPr>
          <a:xfrm>
            <a:off x="7040880" y="1783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CASO DA IBM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7040880" y="2194560"/>
            <a:ext cx="4343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no navegador, em tablets que a equipe clínica carregava consigo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calculado quase em tempo real, perto do momento da alta do paciente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dos resultados do modelo para a linguagem da equipe de intervenção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da equipe clínica como parte da entrega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e banco de dados envolvidos para rastrear pacientes e alimentar o feedback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7040880" y="5486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Implantar envolveu negócio, clínica e TI — não só o cientista de dados.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 · FEEDBACK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não termina quando o modelo fica pronto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implantada, a solução vira objeto de observação contínua: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pessoas estão de fato usando a solução?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previsões continuam acertando — ou os dados mudaram?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comportamento mudou por causa da intervenção?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Surgiram erros novos, casos novos, variáveis novas?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modelo precisa ser retreinado ou atualizado?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5212080"/>
            <a:ext cx="5943600" cy="868680"/>
          </a:xfrm>
          <a:prstGeom prst="roundRect">
            <a:avLst>
              <a:gd name="adj" fmla="val 9474"/>
            </a:avLst>
          </a:prstGeom>
          <a:solidFill>
            <a:srgbClr val="FCEBCF"/>
          </a:solidFill>
          <a:ln w="12700">
            <a:solidFill>
              <a:srgbClr val="FCEBC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/>
          <p:nvPr/>
        </p:nvSpPr>
        <p:spPr>
          <a:xfrm>
            <a:off x="777240" y="5257800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se sabe, mais se quer saber: o feedback devolve o projeto ao começo do ciclo, num nível melhor.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03720" y="1554480"/>
            <a:ext cx="4782312" cy="4526280"/>
          </a:xfrm>
          <a:prstGeom prst="roundRect">
            <a:avLst>
              <a:gd name="adj" fmla="val 1818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/>
          <p:nvPr/>
        </p:nvSpPr>
        <p:spPr>
          <a:xfrm>
            <a:off x="722376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CASO DA IBM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23760" y="2194560"/>
            <a:ext cx="4160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revisão definido, sob responsabilidade da gestão clínica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com intervenção acompanhados; desfechos de readmissão registrados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medido comparando taxas antes × depois (sem grupo de controle, por ética)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após o 1º ano; dados farmacêuticos — adiados na coleta — reconsiderados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refinado e reimplantado, com o processo de feedback mantido em operação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7 · STORYTELLING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que ninguém entende é resultado que não existe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600" dirty="0"/>
          </a:p>
        </p:txBody>
      </p:sp>
      <p:pic>
        <p:nvPicPr>
          <p:cNvPr id="8" name="Image 0" descr="/private/tmp/claude-501/-Users-aldonunes-Cesmac-1-Ciencia-de-Dados-aulas-002/de4d4c8d-184c-48ab-b42d-2bb8962e5f24/scratchpad/icons/arrowright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512" y="2240280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37560" y="192024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Text 7"/>
          <p:cNvSpPr/>
          <p:nvPr/>
        </p:nvSpPr>
        <p:spPr>
          <a:xfrm>
            <a:off x="333756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</a:t>
            </a:r>
            <a:endParaRPr lang="en-US" sz="1600" dirty="0"/>
          </a:p>
        </p:txBody>
      </p:sp>
      <p:pic>
        <p:nvPicPr>
          <p:cNvPr id="11" name="Image 1" descr="/private/tmp/claude-501/-Users-aldonunes-Cesmac-1-Ciencia-de-Dados-aulas-002/de4d4c8d-184c-48ab-b42d-2bb8962e5f24/scratchpad/icons/arrowright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224028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72200" y="192024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9"/>
          <p:cNvSpPr/>
          <p:nvPr/>
        </p:nvSpPr>
        <p:spPr>
          <a:xfrm>
            <a:off x="617220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600" dirty="0"/>
          </a:p>
        </p:txBody>
      </p:sp>
      <p:pic>
        <p:nvPicPr>
          <p:cNvPr id="14" name="Image 2" descr="/private/tmp/claude-501/-Users-aldonunes-Cesmac-1-Ciencia-de-Dados-aulas-002/de4d4c8d-184c-48ab-b42d-2bb8962e5f24/scratchpad/icons/arrowright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240280"/>
            <a:ext cx="274320" cy="2743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006840" y="192024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6" name="Text 11"/>
          <p:cNvSpPr/>
          <p:nvPr/>
        </p:nvSpPr>
        <p:spPr>
          <a:xfrm>
            <a:off x="900684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02920" y="324612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sozinhos não convencem: é a história que liga o problema à evidência e a evidência à decisão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público pede uma linguagem — reitoria, coordenação e professores não ouvem o mesmo relato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são o que a audiência lembra depois — os fatos grudam nelas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a história também ajuda o próprio analista a entender melhor os seus dados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02920" y="5623560"/>
            <a:ext cx="11183112" cy="548640"/>
          </a:xfrm>
          <a:prstGeom prst="roundRect">
            <a:avLst>
              <a:gd name="adj" fmla="val 15000"/>
            </a:avLst>
          </a:prstGeom>
          <a:solidFill>
            <a:srgbClr val="F5F9FA"/>
          </a:solidFill>
          <a:ln w="12700">
            <a:solidFill>
              <a:srgbClr val="CFDD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Text 14"/>
          <p:cNvSpPr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ficamos no essencial — visualização e narrativa com dados terão um encontro só delas.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FORMALIZANDO O PROCESSO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CRISP-DM: o padrão aberto entre indústrias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5179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(Cross-Industry Standard Process for Data Mining) é um modelo de processo consolidado na indústria, iterativo e cíclico, que organiza projetos de mineração de dados em seis fases. Vocês acabaram de estudar, sem saber, quase todas elas.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395728"/>
            <a:ext cx="3602736" cy="1481328"/>
          </a:xfrm>
          <a:prstGeom prst="roundRect">
            <a:avLst>
              <a:gd name="adj" fmla="val 5556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685800" y="2578608"/>
            <a:ext cx="402336" cy="402336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/>
          <p:nvPr/>
        </p:nvSpPr>
        <p:spPr>
          <a:xfrm>
            <a:off x="685800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16152" y="256032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22376" y="3108960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fase mais importante: define a intenção do projeto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88536" y="2395728"/>
            <a:ext cx="3602736" cy="1481328"/>
          </a:xfrm>
          <a:prstGeom prst="roundRect">
            <a:avLst>
              <a:gd name="adj" fmla="val 5556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Shape 11"/>
          <p:cNvSpPr/>
          <p:nvPr/>
        </p:nvSpPr>
        <p:spPr>
          <a:xfrm>
            <a:off x="4471416" y="2578608"/>
            <a:ext cx="402336" cy="402336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/>
          <p:nvPr/>
        </p:nvSpPr>
        <p:spPr>
          <a:xfrm>
            <a:off x="4471416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01768" y="256032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07992" y="3108960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requisitos, coleta e entendimento em uma fase só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74152" y="2395728"/>
            <a:ext cx="3602736" cy="1481328"/>
          </a:xfrm>
          <a:prstGeom prst="roundRect">
            <a:avLst>
              <a:gd name="adj" fmla="val 5556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Shape 16"/>
          <p:cNvSpPr/>
          <p:nvPr/>
        </p:nvSpPr>
        <p:spPr>
          <a:xfrm>
            <a:off x="8257032" y="2578608"/>
            <a:ext cx="402336" cy="402336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Text 17"/>
          <p:cNvSpPr/>
          <p:nvPr/>
        </p:nvSpPr>
        <p:spPr>
          <a:xfrm>
            <a:off x="8257032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87384" y="256032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93608" y="3108960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os dados coletados no recorte utilizável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078224"/>
            <a:ext cx="3602736" cy="1481328"/>
          </a:xfrm>
          <a:prstGeom prst="roundRect">
            <a:avLst>
              <a:gd name="adj" fmla="val 5556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Shape 21"/>
          <p:cNvSpPr/>
          <p:nvPr/>
        </p:nvSpPr>
        <p:spPr>
          <a:xfrm>
            <a:off x="685800" y="4261104"/>
            <a:ext cx="402336" cy="402336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Text 22"/>
          <p:cNvSpPr/>
          <p:nvPr/>
        </p:nvSpPr>
        <p:spPr>
          <a:xfrm>
            <a:off x="68580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16152" y="4242816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22376" y="4791456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os modelos que revelam padrões e estruturas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88536" y="4078224"/>
            <a:ext cx="3602736" cy="1481328"/>
          </a:xfrm>
          <a:prstGeom prst="roundRect">
            <a:avLst>
              <a:gd name="adj" fmla="val 5556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8" name="Shape 26"/>
          <p:cNvSpPr/>
          <p:nvPr/>
        </p:nvSpPr>
        <p:spPr>
          <a:xfrm>
            <a:off x="4471416" y="4261104"/>
            <a:ext cx="402336" cy="402336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9" name="Text 27"/>
          <p:cNvSpPr/>
          <p:nvPr/>
        </p:nvSpPr>
        <p:spPr>
          <a:xfrm>
            <a:off x="4471416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01768" y="4242816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07992" y="4791456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o modelo com dados que ele nunca viu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74152" y="4078224"/>
            <a:ext cx="3602736" cy="1481328"/>
          </a:xfrm>
          <a:prstGeom prst="roundRect">
            <a:avLst>
              <a:gd name="adj" fmla="val 5556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3" name="Shape 31"/>
          <p:cNvSpPr/>
          <p:nvPr/>
        </p:nvSpPr>
        <p:spPr>
          <a:xfrm>
            <a:off x="8257032" y="4261104"/>
            <a:ext cx="402336" cy="402336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4" name="Text 32"/>
          <p:cNvSpPr/>
          <p:nvPr/>
        </p:nvSpPr>
        <p:spPr>
          <a:xfrm>
            <a:off x="8257032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787384" y="4242816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293608" y="4791456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 modelo em dados novos, fora do conjunto original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5806440"/>
            <a:ext cx="11183112" cy="566928"/>
          </a:xfrm>
          <a:prstGeom prst="roundRect">
            <a:avLst>
              <a:gd name="adj" fmla="val 14516"/>
            </a:avLst>
          </a:prstGeom>
          <a:solidFill>
            <a:srgbClr val="FCEBCF"/>
          </a:solidFill>
          <a:ln w="12700">
            <a:solidFill>
              <a:srgbClr val="FCEBC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8" name="Text 36"/>
          <p:cNvSpPr/>
          <p:nvPr/>
        </p:nvSpPr>
        <p:spPr>
          <a:xfrm>
            <a:off x="82296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 Deployment, volta-se aos interessados para discutir os resultados — o CRISP-DM não dá nome a essa fase; a metodologia da IBM chama de Feedback.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MAPAS, UM TERRITÓRIO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da IBM × CRISP-DM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7223760" cy="4224528"/>
        </p:xfrm>
        <a:graphic>
          <a:graphicData uri="http://schemas.openxmlformats.org/drawingml/2006/table">
            <a:tbl>
              <a:tblPr/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METODOLOGIA DA IBM (10 ETAPAS)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5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CRISP-DM (6 FASES)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Entendimento do negócio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Understanding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Abordagem analítica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Understanding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Requisitos de dados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Understanding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Coleta de dados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Understanding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Entendimento dos dados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Understanding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Preparação dos dados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Preparation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Implantação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6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(iteração transversal, sem nome de fase)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92440" y="1645920"/>
            <a:ext cx="3593592" cy="4480560"/>
          </a:xfrm>
          <a:prstGeom prst="roundRect">
            <a:avLst>
              <a:gd name="adj" fmla="val 2290"/>
            </a:avLst>
          </a:prstGeom>
          <a:solidFill>
            <a:srgbClr val="F5F9FA"/>
          </a:solidFill>
          <a:ln w="12700">
            <a:solidFill>
              <a:srgbClr val="CFDDE1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Text 5"/>
          <p:cNvSpPr/>
          <p:nvPr/>
        </p:nvSpPr>
        <p:spPr>
          <a:xfrm>
            <a:off x="8366760" y="1874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equivalência não é perfeita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366760" y="246888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metodologia da IBM explicita mais decisões (abordagem, requisitos) em etapas próprias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CRISP-DM condensa tudo isso em seis fases mais amplas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feedback é etapa nomeada na IBM; no CRISP-DM, é a natureza cíclica do processo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EM GRUPOS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Planejar um projeto com o CRISP-DM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1183112" cy="713232"/>
          </a:xfrm>
          <a:prstGeom prst="roundRect">
            <a:avLst>
              <a:gd name="adj" fmla="val 11538"/>
            </a:avLst>
          </a:prstGeom>
          <a:solidFill>
            <a:srgbClr val="10262E"/>
          </a:solidFill>
          <a:ln w="12700">
            <a:solidFill>
              <a:srgbClr val="10262E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/>
          <p:nvPr/>
        </p:nvSpPr>
        <p:spPr>
          <a:xfrm>
            <a:off x="868680" y="148132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instituição deseja reduzir a reprovação nas disciplinas do primeiro período.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395728"/>
            <a:ext cx="3602736" cy="1700784"/>
          </a:xfrm>
          <a:prstGeom prst="roundRect">
            <a:avLst>
              <a:gd name="adj" fmla="val 4839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Shape 7"/>
          <p:cNvSpPr/>
          <p:nvPr/>
        </p:nvSpPr>
        <p:spPr>
          <a:xfrm>
            <a:off x="685800" y="2578608"/>
            <a:ext cx="384048" cy="384048"/>
          </a:xfrm>
          <a:prstGeom prst="ellipse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/>
          <p:nvPr/>
        </p:nvSpPr>
        <p:spPr>
          <a:xfrm>
            <a:off x="68580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97864" y="254203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22376" y="3072384"/>
            <a:ext cx="3163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problema? Que decisão será apoiada? Qual o critério de sucesso?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88536" y="2395728"/>
            <a:ext cx="3602736" cy="1700784"/>
          </a:xfrm>
          <a:prstGeom prst="roundRect">
            <a:avLst>
              <a:gd name="adj" fmla="val 4839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Shape 12"/>
          <p:cNvSpPr/>
          <p:nvPr/>
        </p:nvSpPr>
        <p:spPr>
          <a:xfrm>
            <a:off x="4471416" y="2578608"/>
            <a:ext cx="384048" cy="384048"/>
          </a:xfrm>
          <a:prstGeom prst="ellipse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Text 13"/>
          <p:cNvSpPr/>
          <p:nvPr/>
        </p:nvSpPr>
        <p:spPr>
          <a:xfrm>
            <a:off x="4471416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254203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07992" y="3072384"/>
            <a:ext cx="3163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dados existem? Que limitações? Como verificar a qualidade?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74152" y="2395728"/>
            <a:ext cx="3602736" cy="1700784"/>
          </a:xfrm>
          <a:prstGeom prst="roundRect">
            <a:avLst>
              <a:gd name="adj" fmla="val 4839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Shape 17"/>
          <p:cNvSpPr/>
          <p:nvPr/>
        </p:nvSpPr>
        <p:spPr>
          <a:xfrm>
            <a:off x="8257032" y="2578608"/>
            <a:ext cx="384048" cy="384048"/>
          </a:xfrm>
          <a:prstGeom prst="ellipse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Text 18"/>
          <p:cNvSpPr/>
          <p:nvPr/>
        </p:nvSpPr>
        <p:spPr>
          <a:xfrm>
            <a:off x="8257032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69096" y="254203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93608" y="3072384"/>
            <a:ext cx="3163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tratamentos? Qual unidade de análise? Que variáveis construir?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297680"/>
            <a:ext cx="3602736" cy="1700784"/>
          </a:xfrm>
          <a:prstGeom prst="roundRect">
            <a:avLst>
              <a:gd name="adj" fmla="val 4839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Shape 22"/>
          <p:cNvSpPr/>
          <p:nvPr/>
        </p:nvSpPr>
        <p:spPr>
          <a:xfrm>
            <a:off x="685800" y="4480560"/>
            <a:ext cx="384048" cy="384048"/>
          </a:xfrm>
          <a:prstGeom prst="ellipse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5" name="Text 23"/>
          <p:cNvSpPr/>
          <p:nvPr/>
        </p:nvSpPr>
        <p:spPr>
          <a:xfrm>
            <a:off x="68580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97864" y="4443984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2376" y="4974336"/>
            <a:ext cx="3163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Descritivo, diagnóstico, preditivo ou classificatório? Que tipo de modelo?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88536" y="4297680"/>
            <a:ext cx="3602736" cy="1700784"/>
          </a:xfrm>
          <a:prstGeom prst="roundRect">
            <a:avLst>
              <a:gd name="adj" fmla="val 4839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9" name="Shape 27"/>
          <p:cNvSpPr/>
          <p:nvPr/>
        </p:nvSpPr>
        <p:spPr>
          <a:xfrm>
            <a:off x="4471416" y="4480560"/>
            <a:ext cx="384048" cy="384048"/>
          </a:xfrm>
          <a:prstGeom prst="ellipse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0" name="Text 28"/>
          <p:cNvSpPr/>
          <p:nvPr/>
        </p:nvSpPr>
        <p:spPr>
          <a:xfrm>
            <a:off x="4471416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83480" y="4443984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07992" y="4974336"/>
            <a:ext cx="3163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saber se funciona? Qual erro seria mais grave?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74152" y="4297680"/>
            <a:ext cx="3602736" cy="1700784"/>
          </a:xfrm>
          <a:prstGeom prst="roundRect">
            <a:avLst>
              <a:gd name="adj" fmla="val 4839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4" name="Shape 32"/>
          <p:cNvSpPr/>
          <p:nvPr/>
        </p:nvSpPr>
        <p:spPr>
          <a:xfrm>
            <a:off x="8257032" y="4480560"/>
            <a:ext cx="384048" cy="384048"/>
          </a:xfrm>
          <a:prstGeom prst="ellipse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5" name="Text 33"/>
          <p:cNvSpPr/>
          <p:nvPr/>
        </p:nvSpPr>
        <p:spPr>
          <a:xfrm>
            <a:off x="8257032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769096" y="4443984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293608" y="4974336"/>
            <a:ext cx="3163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entregar? Quem usaria? Com que frequência?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61264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4–5 · entregar um quadro preenchido por grupo · 15 min se feita em sala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ENCONTRO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DESTE ENCONTRO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6" name="Image 0" descr="/private/tmp/claude-501/-Users-aldonunes-Cesmac-1-Ciencia-de-Dados-aulas-002/de4d4c8d-184c-48ab-b42d-2bb8962e5f24/scratchpad/icons/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13651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197864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não é compreender  </a:t>
            </a:r>
            <a:r>
              <a:rPr lang="en-US" sz="1450" dirty="0">
                <a:solidFill>
                  <a:srgbClr val="AF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entender os dados pode mudar até a definição do problema.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1947672"/>
            <a:ext cx="502920" cy="502920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9" name="Image 1" descr="/private/tmp/claude-501/-Users-aldonunes-Cesmac-1-Ciencia-de-Dados-aulas-002/de4d4c8d-184c-48ab-b42d-2bb8962e5f24/scratchpad/icons/fil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2078431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911096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preparação carrega o projeto  </a:t>
            </a:r>
            <a:r>
              <a:rPr lang="en-US" sz="1450" dirty="0">
                <a:solidFill>
                  <a:srgbClr val="AF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70–90% do tempo — e é onde nascem as variáveis que o modelo usa.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40080" y="2660904"/>
            <a:ext cx="502920" cy="502920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2" name="Image 2" descr="/private/tmp/claude-501/-Users-aldonunes-Cesmac-1-Ciencia-de-Dados-aulas-002/de4d4c8d-184c-48ab-b42d-2bb8962e5f24/scratchpad/icons/targ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2791663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624328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réguas para avaliar  </a:t>
            </a:r>
            <a:r>
              <a:rPr lang="en-US" sz="1450" dirty="0">
                <a:solidFill>
                  <a:srgbClr val="AF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modelo funciona? e: a solução serve para a decisão?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40080" y="3374136"/>
            <a:ext cx="502920" cy="502920"/>
          </a:xfrm>
          <a:prstGeom prst="ellipse">
            <a:avLst/>
          </a:prstGeom>
          <a:solidFill>
            <a:srgbClr val="0E6577"/>
          </a:solidFill>
          <a:ln w="12700">
            <a:solidFill>
              <a:srgbClr val="0E6577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5" name="Image 3" descr="/private/tmp/claude-501/-Users-aldonunes-Cesmac-1-Ciencia-de-Dados-aulas-002/de4d4c8d-184c-48ab-b42d-2bb8962e5f24/scratchpad/icons/refres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" y="3504895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3337560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não termina  </a:t>
            </a:r>
            <a:r>
              <a:rPr lang="en-US" sz="1450" dirty="0">
                <a:solidFill>
                  <a:srgbClr val="AF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implantar abre o feedback; o feedback reabre o ciclo.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640080" y="4343400"/>
            <a:ext cx="10881360" cy="0"/>
          </a:xfrm>
          <a:prstGeom prst="line">
            <a:avLst/>
          </a:prstGeom>
          <a:noFill/>
          <a:ln w="12700">
            <a:solidFill>
              <a:srgbClr val="2A485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Text 14"/>
          <p:cNvSpPr/>
          <p:nvPr/>
        </p:nvSpPr>
        <p:spPr>
          <a:xfrm>
            <a:off x="640080" y="5065775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9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“Um projeto de Ciência de Dados bem-sucedido é uma cadeia de decisões coerentes.”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2810</TotalTime>
  <Words>5064</Words>
  <Application>Microsoft Macintosh PowerPoint</Application>
  <PresentationFormat>Widescreen</PresentationFormat>
  <Paragraphs>568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Encontro 3 — Do Entendimento dos Dados à Avaliação do Modelo</dc:title>
  <dc:subject>PptxGenJS Presentation</dc:subject>
  <dc:creator>Aldo Nunes</dc:creator>
  <cp:lastModifiedBy>João Aldo da Silva Leite Nune</cp:lastModifiedBy>
  <cp:revision>4</cp:revision>
  <dcterms:created xsi:type="dcterms:W3CDTF">2026-08-02T00:31:04Z</dcterms:created>
  <dcterms:modified xsi:type="dcterms:W3CDTF">2026-08-05T19:46:58Z</dcterms:modified>
</cp:coreProperties>
</file>